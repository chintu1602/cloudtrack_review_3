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  <p:sldMasterId id="2147483661" r:id="rId2"/>
  </p:sldMasterIdLst>
  <p:notesMasterIdLst>
    <p:notesMasterId r:id="rId14"/>
  </p:notesMasterIdLst>
  <p:sldIdLst>
    <p:sldId id="256" r:id="rId3"/>
    <p:sldId id="257" r:id="rId4"/>
    <p:sldId id="266" r:id="rId5"/>
    <p:sldId id="258" r:id="rId6"/>
    <p:sldId id="265" r:id="rId7"/>
    <p:sldId id="259" r:id="rId8"/>
    <p:sldId id="260" r:id="rId9"/>
    <p:sldId id="261" r:id="rId10"/>
    <p:sldId id="262" r:id="rId11"/>
    <p:sldId id="263" r:id="rId12"/>
    <p:sldId id="264" r:id="rId1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680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17319f6a2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57250"/>
            <a:ext cx="54864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g3f17319f6a2_2_2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Welcome everyone. Today we are presenting the architecture, deployment, and security posture of the NutriAI Health Portal. We will walk through how we bridged enterprise microservices with a robust, automated Azure infrastructure using Terraform, adhering strictly to Zero-Trust security principles.</a:t>
            </a:r>
            <a:endParaRPr/>
          </a:p>
        </p:txBody>
      </p:sp>
      <p:sp>
        <p:nvSpPr>
          <p:cNvPr id="55" name="Google Shape;55;g3f17319f6a2_2_2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17319f6a2_2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g3f17319f6a2_2_21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4" name="Google Shape;74;g3f17319f6a2_2_21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17319f6a2_2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g3f17319f6a2_2_57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1" name="Google Shape;111;g3f17319f6a2_2_57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E0B59595-E340-B3A9-7AAF-7149C0FE7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17319f6a2_2_57:notes">
            <a:extLst>
              <a:ext uri="{FF2B5EF4-FFF2-40B4-BE49-F238E27FC236}">
                <a16:creationId xmlns:a16="http://schemas.microsoft.com/office/drawing/2014/main" id="{BA92633B-19D7-B5AA-8CD2-DCA824DA38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g3f17319f6a2_2_57:notes">
            <a:extLst>
              <a:ext uri="{FF2B5EF4-FFF2-40B4-BE49-F238E27FC236}">
                <a16:creationId xmlns:a16="http://schemas.microsoft.com/office/drawing/2014/main" id="{607F946B-CE87-6A89-1F8F-1BE057B55A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1" name="Google Shape;111;g3f17319f6a2_2_57:notes">
            <a:extLst>
              <a:ext uri="{FF2B5EF4-FFF2-40B4-BE49-F238E27FC236}">
                <a16:creationId xmlns:a16="http://schemas.microsoft.com/office/drawing/2014/main" id="{DB8B3508-CBF3-AAAC-4006-79DAAB07EF7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327151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f17319f6a2_2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g3f17319f6a2_2_105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0" name="Google Shape;160;g3f17319f6a2_2_105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f17319f6a2_2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" name="Google Shape;208;g3f17319f6a2_2_153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9" name="Google Shape;209;g3f17319f6a2_2_153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f17319f6a2_2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7" name="Google Shape;237;g3f17319f6a2_2_181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8" name="Google Shape;238;g3f17319f6a2_2_181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f17319f6a2_2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0" name="Google Shape;260;g3f17319f6a2_2_226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1" name="Google Shape;261;g3f17319f6a2_2_226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f17319f6a2_2_2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0" name="Google Shape;300;g3f17319f6a2_2_265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01" name="Google Shape;301;g3f17319f6a2_2_265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f17319f6a2_2_3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6" name="Google Shape;336;g3f17319f6a2_2_300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7" name="Google Shape;337;g3f17319f6a2_2_300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png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29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6583680" y="-1097280"/>
            <a:ext cx="3771900" cy="3771900"/>
          </a:xfrm>
          <a:prstGeom prst="ellipse">
            <a:avLst/>
          </a:prstGeom>
          <a:solidFill>
            <a:srgbClr val="065A82">
              <a:alpha val="30196"/>
            </a:srgbClr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5"/>
          <p:cNvSpPr/>
          <p:nvPr/>
        </p:nvSpPr>
        <p:spPr>
          <a:xfrm>
            <a:off x="7680960" y="3154680"/>
            <a:ext cx="2880360" cy="2880360"/>
          </a:xfrm>
          <a:prstGeom prst="ellipse">
            <a:avLst/>
          </a:prstGeom>
          <a:solidFill>
            <a:srgbClr val="1C7293">
              <a:alpha val="25098"/>
            </a:srgbClr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5"/>
          <p:cNvSpPr/>
          <p:nvPr/>
        </p:nvSpPr>
        <p:spPr>
          <a:xfrm>
            <a:off x="617220" y="685800"/>
            <a:ext cx="754380" cy="754380"/>
          </a:xfrm>
          <a:prstGeom prst="ellipse">
            <a:avLst/>
          </a:prstGeom>
          <a:solidFill>
            <a:srgbClr val="2E3D7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0" name="Google Shape;60;p1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6956" y="855536"/>
            <a:ext cx="414909" cy="414909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/>
          <p:nvPr/>
        </p:nvSpPr>
        <p:spPr>
          <a:xfrm>
            <a:off x="617220" y="1611630"/>
            <a:ext cx="4114800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A8C9"/>
              </a:buClr>
              <a:buSzPts val="900"/>
              <a:buFont typeface="Calibri"/>
              <a:buNone/>
            </a:pPr>
            <a:r>
              <a:rPr lang="en" sz="900" b="1" i="0" u="none" strike="noStrike" cap="none">
                <a:solidFill>
                  <a:srgbClr val="8AA8C9"/>
                </a:solidFill>
                <a:latin typeface="Calibri"/>
                <a:ea typeface="Calibri"/>
                <a:cs typeface="Calibri"/>
                <a:sym typeface="Calibri"/>
              </a:rPr>
              <a:t>CLOUD ARCHITECTURE  ·  DEVSECOPS  ·  MICROSERVICES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617220" y="1885950"/>
            <a:ext cx="7200900" cy="754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Cambria"/>
              <a:buNone/>
            </a:pPr>
            <a:r>
              <a:rPr lang="en" sz="33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NutriAI Health Portal</a:t>
            </a: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617220" y="2571750"/>
            <a:ext cx="6858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1500"/>
              <a:buFont typeface="Calibri"/>
              <a:buNone/>
            </a:pPr>
            <a:r>
              <a:rPr lang="en" sz="1500" b="0" i="0" u="none" strike="noStrike" cap="none">
                <a:solidFill>
                  <a:srgbClr val="CFE8F3"/>
                </a:solidFill>
                <a:latin typeface="Calibri"/>
                <a:ea typeface="Calibri"/>
                <a:cs typeface="Calibri"/>
                <a:sym typeface="Calibri"/>
              </a:rPr>
              <a:t>Enterprise Cloud Architecture &amp; DevSecOps Implementation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617220" y="3360420"/>
            <a:ext cx="2434590" cy="411480"/>
          </a:xfrm>
          <a:prstGeom prst="roundRect">
            <a:avLst>
              <a:gd name="adj" fmla="val 16667"/>
            </a:avLst>
          </a:prstGeom>
          <a:solidFill>
            <a:srgbClr val="FFFFFF">
              <a:alpha val="7843"/>
            </a:srgbClr>
          </a:solidFill>
          <a:ln w="127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15"/>
          <p:cNvSpPr/>
          <p:nvPr/>
        </p:nvSpPr>
        <p:spPr>
          <a:xfrm>
            <a:off x="617220" y="3360420"/>
            <a:ext cx="243459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900"/>
              <a:buFont typeface="Calibri"/>
              <a:buNone/>
            </a:pPr>
            <a:r>
              <a:rPr lang="en" sz="900" b="1" i="0" u="none" strike="noStrike" cap="none">
                <a:solidFill>
                  <a:srgbClr val="CFE8F3"/>
                </a:solidFill>
                <a:latin typeface="Calibri"/>
                <a:ea typeface="Calibri"/>
                <a:cs typeface="Calibri"/>
                <a:sym typeface="Calibri"/>
              </a:rPr>
              <a:t>Microservices Flexibility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3188970" y="3360420"/>
            <a:ext cx="2434590" cy="411480"/>
          </a:xfrm>
          <a:prstGeom prst="roundRect">
            <a:avLst>
              <a:gd name="adj" fmla="val 16667"/>
            </a:avLst>
          </a:prstGeom>
          <a:solidFill>
            <a:srgbClr val="FFFFFF">
              <a:alpha val="7843"/>
            </a:srgbClr>
          </a:solidFill>
          <a:ln w="127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5"/>
          <p:cNvSpPr/>
          <p:nvPr/>
        </p:nvSpPr>
        <p:spPr>
          <a:xfrm>
            <a:off x="3188970" y="3360420"/>
            <a:ext cx="243459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900"/>
              <a:buFont typeface="Calibri"/>
              <a:buNone/>
            </a:pPr>
            <a:r>
              <a:rPr lang="en" sz="900" b="1" i="0" u="none" strike="noStrike" cap="none">
                <a:solidFill>
                  <a:srgbClr val="CFE8F3"/>
                </a:solidFill>
                <a:latin typeface="Calibri"/>
                <a:ea typeface="Calibri"/>
                <a:cs typeface="Calibri"/>
                <a:sym typeface="Calibri"/>
              </a:rPr>
              <a:t>Automated Infrastructure as Code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5760720" y="3360420"/>
            <a:ext cx="2434590" cy="411480"/>
          </a:xfrm>
          <a:prstGeom prst="roundRect">
            <a:avLst>
              <a:gd name="adj" fmla="val 16667"/>
            </a:avLst>
          </a:prstGeom>
          <a:solidFill>
            <a:srgbClr val="FFFFFF">
              <a:alpha val="7843"/>
            </a:srgbClr>
          </a:solidFill>
          <a:ln w="127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15"/>
          <p:cNvSpPr/>
          <p:nvPr/>
        </p:nvSpPr>
        <p:spPr>
          <a:xfrm>
            <a:off x="5760720" y="3360420"/>
            <a:ext cx="243459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900"/>
              <a:buFont typeface="Calibri"/>
              <a:buNone/>
            </a:pPr>
            <a:r>
              <a:rPr lang="en" sz="900" b="1" i="0" u="none" strike="noStrike" cap="none">
                <a:solidFill>
                  <a:srgbClr val="CFE8F3"/>
                </a:solidFill>
                <a:latin typeface="Calibri"/>
                <a:ea typeface="Calibri"/>
                <a:cs typeface="Calibri"/>
                <a:sym typeface="Calibri"/>
              </a:rPr>
              <a:t>Zero-Trust Cloud Security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617220" y="459486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85B5"/>
              </a:buClr>
              <a:buSzPts val="900"/>
              <a:buFont typeface="Calibri"/>
              <a:buNone/>
            </a:pPr>
            <a:r>
              <a:rPr lang="en" sz="900" b="0" i="1" u="none" strike="noStrike" cap="none">
                <a:solidFill>
                  <a:srgbClr val="6B85B5"/>
                </a:solidFill>
                <a:latin typeface="Calibri"/>
                <a:ea typeface="Calibri"/>
                <a:cs typeface="Calibri"/>
                <a:sym typeface="Calibri"/>
              </a:rPr>
              <a:t>FastAPI  ·  React  ·  Azure Kubernetes Service  ·  PostgreSQL  ·  Azure OpenAI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/>
          <p:nvPr/>
        </p:nvSpPr>
        <p:spPr>
          <a:xfrm>
            <a:off x="480060" y="308610"/>
            <a:ext cx="4114800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900"/>
              <a:buFont typeface="Calibri"/>
              <a:buNone/>
            </a:pPr>
            <a:r>
              <a:rPr lang="en" sz="9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THE APPLICATION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480060" y="514350"/>
            <a:ext cx="788670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2300"/>
              <a:buFont typeface="Cambria"/>
              <a:buNone/>
            </a:pPr>
            <a:r>
              <a:rPr lang="en" sz="2300" b="1" i="0" u="none" strike="noStrike" cap="none" dirty="0">
                <a:solidFill>
                  <a:srgbClr val="1A2238"/>
                </a:solidFill>
                <a:latin typeface="Cambria"/>
                <a:ea typeface="Cambria"/>
                <a:cs typeface="Cambria"/>
                <a:sym typeface="Cambria"/>
              </a:rPr>
              <a:t>Decoupled Microservices Ecosystem</a:t>
            </a:r>
            <a:endParaRPr sz="2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480060" y="1268730"/>
            <a:ext cx="1440180" cy="582930"/>
          </a:xfrm>
          <a:prstGeom prst="roundRect">
            <a:avLst>
              <a:gd name="adj" fmla="val 9412"/>
            </a:avLst>
          </a:prstGeom>
          <a:solidFill>
            <a:srgbClr val="CFE8F3"/>
          </a:solidFill>
          <a:ln>
            <a:noFill/>
          </a:ln>
          <a:effectLst>
            <a:outerShdw blurRad="101600" dist="38100" dir="5400000" algn="bl" rotWithShape="0">
              <a:srgbClr val="0B1B33">
                <a:alpha val="18039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6"/>
          <p:cNvSpPr/>
          <p:nvPr/>
        </p:nvSpPr>
        <p:spPr>
          <a:xfrm>
            <a:off x="582930" y="1385316"/>
            <a:ext cx="342900" cy="3429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0" name="Google Shape;80;p1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1510" y="1453896"/>
            <a:ext cx="205740" cy="20574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/>
          <p:nvPr/>
        </p:nvSpPr>
        <p:spPr>
          <a:xfrm>
            <a:off x="960120" y="1268730"/>
            <a:ext cx="925830" cy="582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1A2238"/>
                </a:solidFill>
                <a:latin typeface="Calibri"/>
                <a:ea typeface="Calibri"/>
                <a:cs typeface="Calibri"/>
                <a:sym typeface="Calibri"/>
              </a:rPr>
              <a:t>React Frontend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1A2238"/>
                </a:solidFill>
                <a:latin typeface="Calibri"/>
                <a:ea typeface="Calibri"/>
                <a:cs typeface="Calibri"/>
                <a:sym typeface="Calibri"/>
              </a:rPr>
              <a:t>(Nginx SPA)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" name="Google Shape;82;p1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88820" y="1453896"/>
            <a:ext cx="240030" cy="20574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/>
          <p:nvPr/>
        </p:nvSpPr>
        <p:spPr>
          <a:xfrm>
            <a:off x="2297430" y="1268730"/>
            <a:ext cx="1440180" cy="582930"/>
          </a:xfrm>
          <a:prstGeom prst="roundRect">
            <a:avLst>
              <a:gd name="adj" fmla="val 9412"/>
            </a:avLst>
          </a:prstGeom>
          <a:solidFill>
            <a:srgbClr val="065A82"/>
          </a:solidFill>
          <a:ln>
            <a:noFill/>
          </a:ln>
          <a:effectLst>
            <a:outerShdw blurRad="101600" dist="38100" dir="5400000" algn="bl" rotWithShape="0">
              <a:srgbClr val="0B1B33">
                <a:alpha val="18039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6"/>
          <p:cNvSpPr/>
          <p:nvPr/>
        </p:nvSpPr>
        <p:spPr>
          <a:xfrm>
            <a:off x="2400300" y="1385316"/>
            <a:ext cx="342900" cy="3429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5" name="Google Shape;85;p1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68880" y="1453896"/>
            <a:ext cx="205740" cy="20574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6"/>
          <p:cNvSpPr/>
          <p:nvPr/>
        </p:nvSpPr>
        <p:spPr>
          <a:xfrm>
            <a:off x="2777490" y="1268730"/>
            <a:ext cx="925830" cy="582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API Gateway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" name="Google Shape;87;p1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06190" y="1453896"/>
            <a:ext cx="240030" cy="20574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6"/>
          <p:cNvSpPr/>
          <p:nvPr/>
        </p:nvSpPr>
        <p:spPr>
          <a:xfrm>
            <a:off x="4114800" y="1268730"/>
            <a:ext cx="1234440" cy="342900"/>
          </a:xfrm>
          <a:prstGeom prst="roundRect">
            <a:avLst>
              <a:gd name="adj" fmla="val 14000"/>
            </a:avLst>
          </a:prstGeom>
          <a:solidFill>
            <a:srgbClr val="F7FAFC"/>
          </a:solidFill>
          <a:ln w="12700" cap="flat" cmpd="sng">
            <a:solidFill>
              <a:srgbClr val="D6E4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6"/>
          <p:cNvSpPr/>
          <p:nvPr/>
        </p:nvSpPr>
        <p:spPr>
          <a:xfrm>
            <a:off x="4114800" y="1268730"/>
            <a:ext cx="1234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Auth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5452110" y="1268730"/>
            <a:ext cx="1234440" cy="342900"/>
          </a:xfrm>
          <a:prstGeom prst="roundRect">
            <a:avLst>
              <a:gd name="adj" fmla="val 14000"/>
            </a:avLst>
          </a:prstGeom>
          <a:solidFill>
            <a:srgbClr val="F7FAFC"/>
          </a:solidFill>
          <a:ln w="12700" cap="flat" cmpd="sng">
            <a:solidFill>
              <a:srgbClr val="D6E4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6"/>
          <p:cNvSpPr/>
          <p:nvPr/>
        </p:nvSpPr>
        <p:spPr>
          <a:xfrm>
            <a:off x="5452110" y="1268730"/>
            <a:ext cx="1234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Document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4114800" y="1693926"/>
            <a:ext cx="1234440" cy="342900"/>
          </a:xfrm>
          <a:prstGeom prst="roundRect">
            <a:avLst>
              <a:gd name="adj" fmla="val 14000"/>
            </a:avLst>
          </a:prstGeom>
          <a:solidFill>
            <a:srgbClr val="F7FAFC"/>
          </a:solidFill>
          <a:ln w="12700" cap="flat" cmpd="sng">
            <a:solidFill>
              <a:srgbClr val="D6E4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6"/>
          <p:cNvSpPr/>
          <p:nvPr/>
        </p:nvSpPr>
        <p:spPr>
          <a:xfrm>
            <a:off x="4114800" y="1693926"/>
            <a:ext cx="1234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Diet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5452110" y="1693926"/>
            <a:ext cx="1234440" cy="342900"/>
          </a:xfrm>
          <a:prstGeom prst="roundRect">
            <a:avLst>
              <a:gd name="adj" fmla="val 14000"/>
            </a:avLst>
          </a:prstGeom>
          <a:solidFill>
            <a:srgbClr val="F7FAFC"/>
          </a:solidFill>
          <a:ln w="12700" cap="flat" cmpd="sng">
            <a:solidFill>
              <a:srgbClr val="D6E4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6"/>
          <p:cNvSpPr/>
          <p:nvPr/>
        </p:nvSpPr>
        <p:spPr>
          <a:xfrm>
            <a:off x="5452110" y="1693926"/>
            <a:ext cx="1234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Health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4114800" y="2119122"/>
            <a:ext cx="1234440" cy="342900"/>
          </a:xfrm>
          <a:prstGeom prst="roundRect">
            <a:avLst>
              <a:gd name="adj" fmla="val 14000"/>
            </a:avLst>
          </a:prstGeom>
          <a:solidFill>
            <a:srgbClr val="F7FAFC"/>
          </a:solidFill>
          <a:ln w="12700" cap="flat" cmpd="sng">
            <a:solidFill>
              <a:srgbClr val="D6E4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6"/>
          <p:cNvSpPr/>
          <p:nvPr/>
        </p:nvSpPr>
        <p:spPr>
          <a:xfrm>
            <a:off x="4114800" y="2119122"/>
            <a:ext cx="1234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Profile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5452110" y="2119122"/>
            <a:ext cx="1234440" cy="342900"/>
          </a:xfrm>
          <a:prstGeom prst="roundRect">
            <a:avLst>
              <a:gd name="adj" fmla="val 14000"/>
            </a:avLst>
          </a:prstGeom>
          <a:solidFill>
            <a:srgbClr val="F7FAFC"/>
          </a:solidFill>
          <a:ln w="12700" cap="flat" cmpd="sng">
            <a:solidFill>
              <a:srgbClr val="D6E4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6"/>
          <p:cNvSpPr/>
          <p:nvPr/>
        </p:nvSpPr>
        <p:spPr>
          <a:xfrm>
            <a:off x="5452110" y="2119122"/>
            <a:ext cx="1234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Admin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4114800" y="2544318"/>
            <a:ext cx="1234440" cy="342900"/>
          </a:xfrm>
          <a:prstGeom prst="roundRect">
            <a:avLst>
              <a:gd name="adj" fmla="val 14000"/>
            </a:avLst>
          </a:prstGeom>
          <a:solidFill>
            <a:srgbClr val="F7FAFC"/>
          </a:solidFill>
          <a:ln w="12700" cap="flat" cmpd="sng">
            <a:solidFill>
              <a:srgbClr val="D6E4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6"/>
          <p:cNvSpPr/>
          <p:nvPr/>
        </p:nvSpPr>
        <p:spPr>
          <a:xfrm>
            <a:off x="4114800" y="2544318"/>
            <a:ext cx="1234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Notification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480060" y="3463290"/>
            <a:ext cx="8126730" cy="651510"/>
          </a:xfrm>
          <a:prstGeom prst="roundRect">
            <a:avLst>
              <a:gd name="adj" fmla="val 10526"/>
            </a:avLst>
          </a:prstGeom>
          <a:solidFill>
            <a:srgbClr val="F0F7FA"/>
          </a:solidFill>
          <a:ln>
            <a:noFill/>
          </a:ln>
          <a:effectLst>
            <a:outerShdw blurRad="101600" dist="38100" dir="5400000" algn="bl" rotWithShape="0">
              <a:srgbClr val="0B1B33">
                <a:alpha val="18039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6"/>
          <p:cNvSpPr/>
          <p:nvPr/>
        </p:nvSpPr>
        <p:spPr>
          <a:xfrm>
            <a:off x="651510" y="3614166"/>
            <a:ext cx="342900" cy="3429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4" name="Google Shape;104;p16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0090" y="3682746"/>
            <a:ext cx="205740" cy="20574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6"/>
          <p:cNvSpPr/>
          <p:nvPr/>
        </p:nvSpPr>
        <p:spPr>
          <a:xfrm>
            <a:off x="1131570" y="3463290"/>
            <a:ext cx="7338060" cy="651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1000"/>
              <a:buFont typeface="Calibri"/>
              <a:buNone/>
            </a:pPr>
            <a:r>
              <a:rPr lang="en" sz="1000" b="1" i="0" u="none" strike="noStrike" cap="none">
                <a:solidFill>
                  <a:srgbClr val="1A2238"/>
                </a:solidFill>
                <a:latin typeface="Calibri"/>
                <a:ea typeface="Calibri"/>
                <a:cs typeface="Calibri"/>
                <a:sym typeface="Calibri"/>
              </a:rPr>
              <a:t>Redis Caching Layer  </a:t>
            </a:r>
            <a:r>
              <a:rPr lang="en" sz="10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— integrated caching to accelerate response times for vitals and metrics queries across all seven backend services.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480060" y="4251960"/>
            <a:ext cx="812673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54000" marR="0" lvl="0" indent="-24765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Char char="•"/>
            </a:pPr>
            <a:r>
              <a:rPr lang="en" sz="9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React frontend served as a single-page application via Nginx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4765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Char char="•"/>
            </a:pPr>
            <a:r>
              <a:rPr lang="en" sz="9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Backend logic segregated across 7 distinct FastAPI microservices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4765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Char char="•"/>
            </a:pPr>
            <a:r>
              <a:rPr lang="en" sz="9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API Gateway consolidates routing to backend containers seamlessly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6"/>
          <p:cNvSpPr/>
          <p:nvPr/>
        </p:nvSpPr>
        <p:spPr>
          <a:xfrm>
            <a:off x="8572500" y="4834890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496469-491C-A521-69B8-2C3257FA7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657" y="307778"/>
            <a:ext cx="7429500" cy="48357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2453DA9-E18F-D886-4B1D-E968ACEEAD75}"/>
              </a:ext>
            </a:extLst>
          </p:cNvPr>
          <p:cNvSpPr txBox="1"/>
          <p:nvPr/>
        </p:nvSpPr>
        <p:spPr>
          <a:xfrm>
            <a:off x="84129" y="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2300"/>
              <a:buFont typeface="Cambria"/>
              <a:buNone/>
            </a:pPr>
            <a:r>
              <a:rPr lang="en-IN" b="1" dirty="0">
                <a:solidFill>
                  <a:srgbClr val="1A2238"/>
                </a:solidFill>
                <a:latin typeface="Cambria"/>
                <a:ea typeface="Cambria"/>
                <a:cs typeface="Calibri"/>
                <a:sym typeface="Cambria"/>
              </a:rPr>
              <a:t>Application Architecture</a:t>
            </a:r>
            <a:endParaRPr lang="en-IN"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66113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/>
          <p:nvPr/>
        </p:nvSpPr>
        <p:spPr>
          <a:xfrm>
            <a:off x="480060" y="308610"/>
            <a:ext cx="4114800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900"/>
              <a:buFont typeface="Calibri"/>
              <a:buNone/>
            </a:pPr>
            <a:r>
              <a:rPr lang="en" sz="9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THE APPLICATION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7"/>
          <p:cNvSpPr/>
          <p:nvPr/>
        </p:nvSpPr>
        <p:spPr>
          <a:xfrm>
            <a:off x="480060" y="514350"/>
            <a:ext cx="788670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2300"/>
              <a:buFont typeface="Cambria"/>
              <a:buNone/>
            </a:pPr>
            <a:r>
              <a:rPr lang="en" sz="2300" b="1" i="0" u="none" strike="noStrike" cap="none">
                <a:solidFill>
                  <a:srgbClr val="1A2238"/>
                </a:solidFill>
                <a:latin typeface="Cambria"/>
                <a:ea typeface="Cambria"/>
                <a:cs typeface="Cambria"/>
                <a:sym typeface="Cambria"/>
              </a:rPr>
              <a:t>Event-Driven Data &amp; AI Integrations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7"/>
          <p:cNvSpPr/>
          <p:nvPr/>
        </p:nvSpPr>
        <p:spPr>
          <a:xfrm>
            <a:off x="480060" y="1337310"/>
            <a:ext cx="1268730" cy="1165860"/>
          </a:xfrm>
          <a:prstGeom prst="roundRect">
            <a:avLst>
              <a:gd name="adj" fmla="val 5294"/>
            </a:avLst>
          </a:prstGeom>
          <a:solidFill>
            <a:srgbClr val="CFE8F3"/>
          </a:solidFill>
          <a:ln>
            <a:noFill/>
          </a:ln>
          <a:effectLst>
            <a:outerShdw blurRad="101600" dist="38100" dir="5400000" algn="bl" rotWithShape="0">
              <a:srgbClr val="0B1B33">
                <a:alpha val="18039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7"/>
          <p:cNvSpPr/>
          <p:nvPr/>
        </p:nvSpPr>
        <p:spPr>
          <a:xfrm>
            <a:off x="874395" y="1488186"/>
            <a:ext cx="480060" cy="48006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7" name="Google Shape;117;p1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2409" y="1596200"/>
            <a:ext cx="264033" cy="264033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7"/>
          <p:cNvSpPr/>
          <p:nvPr/>
        </p:nvSpPr>
        <p:spPr>
          <a:xfrm>
            <a:off x="514350" y="2023110"/>
            <a:ext cx="120015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1A2238"/>
                </a:solidFill>
                <a:latin typeface="Calibri"/>
                <a:ea typeface="Calibri"/>
                <a:cs typeface="Calibri"/>
                <a:sym typeface="Calibri"/>
              </a:rPr>
              <a:t>PDF Upload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7"/>
          <p:cNvSpPr/>
          <p:nvPr/>
        </p:nvSpPr>
        <p:spPr>
          <a:xfrm>
            <a:off x="514350" y="2263140"/>
            <a:ext cx="120015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700"/>
              <a:buFont typeface="Calibri"/>
              <a:buNone/>
            </a:pPr>
            <a:r>
              <a:rPr lang="en" sz="700" b="0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Blob Storage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1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48790" y="1817370"/>
            <a:ext cx="123444" cy="20574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7"/>
          <p:cNvSpPr/>
          <p:nvPr/>
        </p:nvSpPr>
        <p:spPr>
          <a:xfrm>
            <a:off x="1872234" y="1337310"/>
            <a:ext cx="1268730" cy="1165860"/>
          </a:xfrm>
          <a:prstGeom prst="roundRect">
            <a:avLst>
              <a:gd name="adj" fmla="val 5294"/>
            </a:avLst>
          </a:prstGeom>
          <a:solidFill>
            <a:srgbClr val="F7FAFC"/>
          </a:solidFill>
          <a:ln>
            <a:noFill/>
          </a:ln>
          <a:effectLst>
            <a:outerShdw blurRad="101600" dist="38100" dir="5400000" algn="bl" rotWithShape="0">
              <a:srgbClr val="0B1B33">
                <a:alpha val="18039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17"/>
          <p:cNvSpPr/>
          <p:nvPr/>
        </p:nvSpPr>
        <p:spPr>
          <a:xfrm>
            <a:off x="2266569" y="1488186"/>
            <a:ext cx="480060" cy="48006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3" name="Google Shape;123;p1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74582" y="1596200"/>
            <a:ext cx="264033" cy="264033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7"/>
          <p:cNvSpPr/>
          <p:nvPr/>
        </p:nvSpPr>
        <p:spPr>
          <a:xfrm>
            <a:off x="1906524" y="2023110"/>
            <a:ext cx="120015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1A2238"/>
                </a:solidFill>
                <a:latin typeface="Calibri"/>
                <a:ea typeface="Calibri"/>
                <a:cs typeface="Calibri"/>
                <a:sym typeface="Calibri"/>
              </a:rPr>
              <a:t>Document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1A2238"/>
                </a:solidFill>
                <a:latin typeface="Calibri"/>
                <a:ea typeface="Calibri"/>
                <a:cs typeface="Calibri"/>
                <a:sym typeface="Calibri"/>
              </a:rPr>
              <a:t>Intelligence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7"/>
          <p:cNvSpPr/>
          <p:nvPr/>
        </p:nvSpPr>
        <p:spPr>
          <a:xfrm>
            <a:off x="1906524" y="2263140"/>
            <a:ext cx="120015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700"/>
              <a:buFont typeface="Calibri"/>
              <a:buNone/>
            </a:pPr>
            <a:r>
              <a:rPr lang="en" sz="700" b="0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OCR Parsing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p1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40964" y="1817370"/>
            <a:ext cx="123444" cy="20574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7"/>
          <p:cNvSpPr/>
          <p:nvPr/>
        </p:nvSpPr>
        <p:spPr>
          <a:xfrm>
            <a:off x="3264408" y="1337310"/>
            <a:ext cx="1268730" cy="1165860"/>
          </a:xfrm>
          <a:prstGeom prst="roundRect">
            <a:avLst>
              <a:gd name="adj" fmla="val 5294"/>
            </a:avLst>
          </a:prstGeom>
          <a:solidFill>
            <a:srgbClr val="CFE8F3"/>
          </a:solidFill>
          <a:ln>
            <a:noFill/>
          </a:ln>
          <a:effectLst>
            <a:outerShdw blurRad="101600" dist="38100" dir="5400000" algn="bl" rotWithShape="0">
              <a:srgbClr val="0B1B33">
                <a:alpha val="18039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17"/>
          <p:cNvSpPr/>
          <p:nvPr/>
        </p:nvSpPr>
        <p:spPr>
          <a:xfrm>
            <a:off x="3658743" y="1488186"/>
            <a:ext cx="480060" cy="48006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9" name="Google Shape;129;p17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766757" y="1596200"/>
            <a:ext cx="264033" cy="264033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7"/>
          <p:cNvSpPr/>
          <p:nvPr/>
        </p:nvSpPr>
        <p:spPr>
          <a:xfrm>
            <a:off x="3298698" y="2023110"/>
            <a:ext cx="120015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1A2238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/>
          <p:nvPr/>
        </p:nvSpPr>
        <p:spPr>
          <a:xfrm>
            <a:off x="3298698" y="2263140"/>
            <a:ext cx="120015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700"/>
              <a:buFont typeface="Calibri"/>
              <a:buNone/>
            </a:pPr>
            <a:r>
              <a:rPr lang="en" sz="700" b="0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Vitals Stored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p1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33138" y="1817370"/>
            <a:ext cx="123444" cy="20574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/>
          <p:nvPr/>
        </p:nvSpPr>
        <p:spPr>
          <a:xfrm>
            <a:off x="4656582" y="1337310"/>
            <a:ext cx="1268730" cy="1165860"/>
          </a:xfrm>
          <a:prstGeom prst="roundRect">
            <a:avLst>
              <a:gd name="adj" fmla="val 5294"/>
            </a:avLst>
          </a:prstGeom>
          <a:solidFill>
            <a:srgbClr val="F7FAFC"/>
          </a:solidFill>
          <a:ln>
            <a:noFill/>
          </a:ln>
          <a:effectLst>
            <a:outerShdw blurRad="101600" dist="38100" dir="5400000" algn="bl" rotWithShape="0">
              <a:srgbClr val="0B1B33">
                <a:alpha val="18039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7"/>
          <p:cNvSpPr/>
          <p:nvPr/>
        </p:nvSpPr>
        <p:spPr>
          <a:xfrm>
            <a:off x="5050917" y="1488186"/>
            <a:ext cx="480060" cy="48006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5" name="Google Shape;135;p1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158931" y="1596200"/>
            <a:ext cx="264033" cy="264033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/>
          <p:nvPr/>
        </p:nvSpPr>
        <p:spPr>
          <a:xfrm>
            <a:off x="4690872" y="2023110"/>
            <a:ext cx="120015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1A2238"/>
                </a:solidFill>
                <a:latin typeface="Calibri"/>
                <a:ea typeface="Calibri"/>
                <a:cs typeface="Calibri"/>
                <a:sym typeface="Calibri"/>
              </a:rPr>
              <a:t>Azure OpenAI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4690872" y="2263140"/>
            <a:ext cx="120015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700"/>
              <a:buFont typeface="Calibri"/>
              <a:buNone/>
            </a:pPr>
            <a:r>
              <a:rPr lang="en" sz="700" b="0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Diet Plan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8" name="Google Shape;138;p1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25312" y="1817370"/>
            <a:ext cx="123444" cy="20574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/>
          <p:nvPr/>
        </p:nvSpPr>
        <p:spPr>
          <a:xfrm>
            <a:off x="6048756" y="1337310"/>
            <a:ext cx="1268730" cy="1165860"/>
          </a:xfrm>
          <a:prstGeom prst="roundRect">
            <a:avLst>
              <a:gd name="adj" fmla="val 5294"/>
            </a:avLst>
          </a:prstGeom>
          <a:solidFill>
            <a:srgbClr val="CFE8F3"/>
          </a:solidFill>
          <a:ln>
            <a:noFill/>
          </a:ln>
          <a:effectLst>
            <a:outerShdw blurRad="101600" dist="38100" dir="5400000" algn="bl" rotWithShape="0">
              <a:srgbClr val="0B1B33">
                <a:alpha val="18039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6443091" y="1488186"/>
            <a:ext cx="480060" cy="48006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1" name="Google Shape;141;p17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51104" y="1596200"/>
            <a:ext cx="264033" cy="264033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/>
          <p:nvPr/>
        </p:nvSpPr>
        <p:spPr>
          <a:xfrm>
            <a:off x="6083046" y="2023110"/>
            <a:ext cx="120015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1A2238"/>
                </a:solidFill>
                <a:latin typeface="Calibri"/>
                <a:ea typeface="Calibri"/>
                <a:cs typeface="Calibri"/>
                <a:sym typeface="Calibri"/>
              </a:rPr>
              <a:t>Service Bus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6083046" y="2263140"/>
            <a:ext cx="120015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700"/>
              <a:buFont typeface="Calibri"/>
              <a:buNone/>
            </a:pPr>
            <a:r>
              <a:rPr lang="en" sz="700" b="0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Topic Queue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1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17486" y="1817370"/>
            <a:ext cx="123444" cy="20574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/>
          <p:nvPr/>
        </p:nvSpPr>
        <p:spPr>
          <a:xfrm>
            <a:off x="7440930" y="1337310"/>
            <a:ext cx="1268730" cy="1165860"/>
          </a:xfrm>
          <a:prstGeom prst="roundRect">
            <a:avLst>
              <a:gd name="adj" fmla="val 5294"/>
            </a:avLst>
          </a:prstGeom>
          <a:solidFill>
            <a:srgbClr val="F7FAFC"/>
          </a:solidFill>
          <a:ln>
            <a:noFill/>
          </a:ln>
          <a:effectLst>
            <a:outerShdw blurRad="101600" dist="38100" dir="5400000" algn="bl" rotWithShape="0">
              <a:srgbClr val="0B1B33">
                <a:alpha val="18039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7835265" y="1488186"/>
            <a:ext cx="480060" cy="48006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7" name="Google Shape;147;p17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943279" y="1596200"/>
            <a:ext cx="264033" cy="264033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/>
          <p:nvPr/>
        </p:nvSpPr>
        <p:spPr>
          <a:xfrm>
            <a:off x="7475220" y="2023110"/>
            <a:ext cx="120015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1A2238"/>
                </a:solidFill>
                <a:latin typeface="Calibri"/>
                <a:ea typeface="Calibri"/>
                <a:cs typeface="Calibri"/>
                <a:sym typeface="Calibri"/>
              </a:rPr>
              <a:t>SMTP Email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7475220" y="2263140"/>
            <a:ext cx="120015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700"/>
              <a:buFont typeface="Calibri"/>
              <a:buNone/>
            </a:pPr>
            <a:r>
              <a:rPr lang="en" sz="700" b="0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Notification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514350" y="2935224"/>
            <a:ext cx="82296" cy="82296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7"/>
          <p:cNvSpPr/>
          <p:nvPr/>
        </p:nvSpPr>
        <p:spPr>
          <a:xfrm>
            <a:off x="685800" y="2880360"/>
            <a:ext cx="7818120" cy="445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1000"/>
              <a:buFont typeface="Calibri"/>
              <a:buNone/>
            </a:pPr>
            <a:r>
              <a:rPr lang="en" sz="1000" b="1" i="0" u="none" strike="noStrike" cap="none">
                <a:solidFill>
                  <a:srgbClr val="1A2238"/>
                </a:solidFill>
                <a:latin typeface="Calibri"/>
                <a:ea typeface="Calibri"/>
                <a:cs typeface="Calibri"/>
                <a:sym typeface="Calibri"/>
              </a:rPr>
              <a:t>OCR Integration: </a:t>
            </a:r>
            <a:r>
              <a:rPr lang="en" sz="10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Document service uploads report PDFs to Azure Blob Storage and invokes Azure Document Intelligence to parse laboratory vitals.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514350" y="3470148"/>
            <a:ext cx="82296" cy="82296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7"/>
          <p:cNvSpPr/>
          <p:nvPr/>
        </p:nvSpPr>
        <p:spPr>
          <a:xfrm>
            <a:off x="685800" y="3415284"/>
            <a:ext cx="7818120" cy="445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1000"/>
              <a:buFont typeface="Calibri"/>
              <a:buNone/>
            </a:pPr>
            <a:r>
              <a:rPr lang="en" sz="1000" b="1" i="0" u="none" strike="noStrike" cap="none">
                <a:solidFill>
                  <a:srgbClr val="1A2238"/>
                </a:solidFill>
                <a:latin typeface="Calibri"/>
                <a:ea typeface="Calibri"/>
                <a:cs typeface="Calibri"/>
                <a:sym typeface="Calibri"/>
              </a:rPr>
              <a:t>AI Diet Engine: </a:t>
            </a:r>
            <a:r>
              <a:rPr lang="en" sz="10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Diet service feeds vitals and preferences to Azure OpenAI to generate personalized meal plans.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514350" y="4005072"/>
            <a:ext cx="82296" cy="82296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7"/>
          <p:cNvSpPr/>
          <p:nvPr/>
        </p:nvSpPr>
        <p:spPr>
          <a:xfrm>
            <a:off x="685800" y="3950208"/>
            <a:ext cx="7818120" cy="445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1000"/>
              <a:buFont typeface="Calibri"/>
              <a:buNone/>
            </a:pPr>
            <a:r>
              <a:rPr lang="en" sz="1000" b="1" i="0" u="none" strike="noStrike" cap="none">
                <a:solidFill>
                  <a:srgbClr val="1A2238"/>
                </a:solidFill>
                <a:latin typeface="Calibri"/>
                <a:ea typeface="Calibri"/>
                <a:cs typeface="Calibri"/>
                <a:sym typeface="Calibri"/>
              </a:rPr>
              <a:t>Asynchronous Reminders: </a:t>
            </a:r>
            <a:r>
              <a:rPr lang="en" sz="10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Diet plans trigger events queued in Azure Service Bus topics, consumed by the Notification service for SMTP emails.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8572500" y="4834890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12">
          <a:extLst>
            <a:ext uri="{FF2B5EF4-FFF2-40B4-BE49-F238E27FC236}">
              <a16:creationId xmlns:a16="http://schemas.microsoft.com/office/drawing/2014/main" id="{439B9C20-6D49-BBE4-C715-4539AC106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F8490C-2C76-4702-612A-7D4536FDA9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" y="1"/>
            <a:ext cx="765169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179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8"/>
          <p:cNvSpPr/>
          <p:nvPr/>
        </p:nvSpPr>
        <p:spPr>
          <a:xfrm>
            <a:off x="480060" y="308610"/>
            <a:ext cx="4114800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900"/>
              <a:buFont typeface="Calibri"/>
              <a:buNone/>
            </a:pPr>
            <a:r>
              <a:rPr lang="en" sz="9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AZURE CLOUD ARCHITECTURE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480060" y="514350"/>
            <a:ext cx="788670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2300"/>
              <a:buFont typeface="Cambria"/>
              <a:buNone/>
            </a:pPr>
            <a:r>
              <a:rPr lang="en" sz="2300" b="1" i="0" u="none" strike="noStrike" cap="none">
                <a:solidFill>
                  <a:srgbClr val="1A2238"/>
                </a:solidFill>
                <a:latin typeface="Cambria"/>
                <a:ea typeface="Cambria"/>
                <a:cs typeface="Cambria"/>
                <a:sym typeface="Cambria"/>
              </a:rPr>
              <a:t>Regional Compute &amp; Traffic Routing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480060" y="1234440"/>
            <a:ext cx="5006340" cy="30861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905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8"/>
          <p:cNvSpPr/>
          <p:nvPr/>
        </p:nvSpPr>
        <p:spPr>
          <a:xfrm>
            <a:off x="651510" y="1337310"/>
            <a:ext cx="4663440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Virtual Network — Central India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651510" y="1680210"/>
            <a:ext cx="1474470" cy="1165860"/>
          </a:xfrm>
          <a:prstGeom prst="roundRect">
            <a:avLst>
              <a:gd name="adj" fmla="val 4706"/>
            </a:avLst>
          </a:prstGeom>
          <a:solidFill>
            <a:srgbClr val="CFE8F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8"/>
          <p:cNvSpPr/>
          <p:nvPr/>
        </p:nvSpPr>
        <p:spPr>
          <a:xfrm>
            <a:off x="1200150" y="1817370"/>
            <a:ext cx="377190" cy="37719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8" name="Google Shape;168;p1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5018" y="1902238"/>
            <a:ext cx="207455" cy="20745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/>
          <p:nvPr/>
        </p:nvSpPr>
        <p:spPr>
          <a:xfrm>
            <a:off x="685800" y="2263140"/>
            <a:ext cx="140589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1A2238"/>
                </a:solidFill>
                <a:latin typeface="Calibri"/>
                <a:ea typeface="Calibri"/>
                <a:cs typeface="Calibri"/>
                <a:sym typeface="Calibri"/>
              </a:rPr>
              <a:t>AKS Subnet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685800" y="2537460"/>
            <a:ext cx="140589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700"/>
              <a:buFont typeface="Calibri"/>
              <a:buNone/>
            </a:pPr>
            <a:r>
              <a:rPr lang="en" sz="700" b="0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Azure CNI · v1.30+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2263140" y="1680210"/>
            <a:ext cx="1474470" cy="1165860"/>
          </a:xfrm>
          <a:prstGeom prst="roundRect">
            <a:avLst>
              <a:gd name="adj" fmla="val 4706"/>
            </a:avLst>
          </a:prstGeom>
          <a:solidFill>
            <a:srgbClr val="CFE8F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8"/>
          <p:cNvSpPr/>
          <p:nvPr/>
        </p:nvSpPr>
        <p:spPr>
          <a:xfrm>
            <a:off x="2811780" y="1817370"/>
            <a:ext cx="377190" cy="37719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3" name="Google Shape;173;p1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96648" y="1902238"/>
            <a:ext cx="207454" cy="20745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/>
          <p:nvPr/>
        </p:nvSpPr>
        <p:spPr>
          <a:xfrm>
            <a:off x="2297430" y="2263140"/>
            <a:ext cx="140589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1A2238"/>
                </a:solidFill>
                <a:latin typeface="Calibri"/>
                <a:ea typeface="Calibri"/>
                <a:cs typeface="Calibri"/>
                <a:sym typeface="Calibri"/>
              </a:rPr>
              <a:t>AppGW Subnet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2297430" y="2537460"/>
            <a:ext cx="140589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700"/>
              <a:buFont typeface="Calibri"/>
              <a:buNone/>
            </a:pPr>
            <a:r>
              <a:rPr lang="en" sz="700" b="0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AGIC Ingress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3874770" y="1680210"/>
            <a:ext cx="1474470" cy="1165860"/>
          </a:xfrm>
          <a:prstGeom prst="roundRect">
            <a:avLst>
              <a:gd name="adj" fmla="val 4706"/>
            </a:avLst>
          </a:prstGeom>
          <a:solidFill>
            <a:srgbClr val="CFE8F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4423410" y="1817370"/>
            <a:ext cx="377190" cy="37719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8" name="Google Shape;178;p1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08278" y="1902238"/>
            <a:ext cx="207454" cy="20745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3909060" y="2263140"/>
            <a:ext cx="140589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1A2238"/>
                </a:solidFill>
                <a:latin typeface="Calibri"/>
                <a:ea typeface="Calibri"/>
                <a:cs typeface="Calibri"/>
                <a:sym typeface="Calibri"/>
              </a:rPr>
              <a:t>Private Endpoint Subnet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3909060" y="2537460"/>
            <a:ext cx="140589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700"/>
              <a:buFont typeface="Calibri"/>
              <a:buNone/>
            </a:pPr>
            <a:r>
              <a:rPr lang="en" sz="700" b="0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PaaS isolation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651510" y="2983230"/>
            <a:ext cx="1474470" cy="1165860"/>
          </a:xfrm>
          <a:prstGeom prst="roundRect">
            <a:avLst>
              <a:gd name="adj" fmla="val 4706"/>
            </a:avLst>
          </a:prstGeom>
          <a:solidFill>
            <a:srgbClr val="CFE8F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8"/>
          <p:cNvSpPr/>
          <p:nvPr/>
        </p:nvSpPr>
        <p:spPr>
          <a:xfrm>
            <a:off x="1200150" y="3120390"/>
            <a:ext cx="377190" cy="37719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3" name="Google Shape;183;p18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85018" y="3205258"/>
            <a:ext cx="207455" cy="207454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8"/>
          <p:cNvSpPr/>
          <p:nvPr/>
        </p:nvSpPr>
        <p:spPr>
          <a:xfrm>
            <a:off x="685800" y="3566160"/>
            <a:ext cx="140589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1A2238"/>
                </a:solidFill>
                <a:latin typeface="Calibri"/>
                <a:ea typeface="Calibri"/>
                <a:cs typeface="Calibri"/>
                <a:sym typeface="Calibri"/>
              </a:rPr>
              <a:t>Database Subnet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8"/>
          <p:cNvSpPr/>
          <p:nvPr/>
        </p:nvSpPr>
        <p:spPr>
          <a:xfrm>
            <a:off x="685800" y="3840480"/>
            <a:ext cx="140589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700"/>
              <a:buFont typeface="Calibri"/>
              <a:buNone/>
            </a:pPr>
            <a:r>
              <a:rPr lang="en" sz="700" b="0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Delegated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2263140" y="2983230"/>
            <a:ext cx="1474470" cy="1165860"/>
          </a:xfrm>
          <a:prstGeom prst="roundRect">
            <a:avLst>
              <a:gd name="adj" fmla="val 4706"/>
            </a:avLst>
          </a:prstGeom>
          <a:solidFill>
            <a:srgbClr val="CFE8F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8"/>
          <p:cNvSpPr/>
          <p:nvPr/>
        </p:nvSpPr>
        <p:spPr>
          <a:xfrm>
            <a:off x="2811780" y="3120390"/>
            <a:ext cx="377190" cy="37719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8" name="Google Shape;188;p18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896648" y="3205258"/>
            <a:ext cx="207454" cy="207454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8"/>
          <p:cNvSpPr/>
          <p:nvPr/>
        </p:nvSpPr>
        <p:spPr>
          <a:xfrm>
            <a:off x="2297430" y="3566160"/>
            <a:ext cx="140589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1A2238"/>
                </a:solidFill>
                <a:latin typeface="Calibri"/>
                <a:ea typeface="Calibri"/>
                <a:cs typeface="Calibri"/>
                <a:sym typeface="Calibri"/>
              </a:rPr>
              <a:t>Bastion Subnet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2297430" y="3840480"/>
            <a:ext cx="140589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700"/>
              <a:buFont typeface="Calibri"/>
              <a:buNone/>
            </a:pPr>
            <a:r>
              <a:rPr lang="en" sz="700" b="0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Secure admin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5657850" y="1234440"/>
            <a:ext cx="2983230" cy="3086100"/>
          </a:xfrm>
          <a:prstGeom prst="roundRect">
            <a:avLst>
              <a:gd name="adj" fmla="val 2299"/>
            </a:avLst>
          </a:prstGeom>
          <a:solidFill>
            <a:srgbClr val="21295C"/>
          </a:solidFill>
          <a:ln>
            <a:noFill/>
          </a:ln>
          <a:effectLst>
            <a:outerShdw blurRad="101600" dist="38100" dir="5400000" algn="bl" rotWithShape="0">
              <a:srgbClr val="0B1B33">
                <a:alpha val="18039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8"/>
          <p:cNvSpPr/>
          <p:nvPr/>
        </p:nvSpPr>
        <p:spPr>
          <a:xfrm>
            <a:off x="5863590" y="1371600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1000"/>
              <a:buFont typeface="Calibri"/>
              <a:buNone/>
            </a:pPr>
            <a:r>
              <a:rPr lang="en" sz="1000" b="1" i="0" u="none" strike="noStrike" cap="none">
                <a:solidFill>
                  <a:srgbClr val="CFE8F3"/>
                </a:solidFill>
                <a:latin typeface="Calibri"/>
                <a:ea typeface="Calibri"/>
                <a:cs typeface="Calibri"/>
                <a:sym typeface="Calibri"/>
              </a:rPr>
              <a:t>Edge Traffic Flow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5863590" y="1748790"/>
            <a:ext cx="2571750" cy="342900"/>
          </a:xfrm>
          <a:prstGeom prst="roundRect">
            <a:avLst>
              <a:gd name="adj" fmla="val 14000"/>
            </a:avLst>
          </a:prstGeom>
          <a:solidFill>
            <a:srgbClr val="FFFFFF">
              <a:alpha val="10196"/>
            </a:srgbClr>
          </a:solidFill>
          <a:ln w="127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8"/>
          <p:cNvSpPr/>
          <p:nvPr/>
        </p:nvSpPr>
        <p:spPr>
          <a:xfrm>
            <a:off x="5863590" y="1748790"/>
            <a:ext cx="25717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p18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rot="5400000">
            <a:off x="7029450" y="2050542"/>
            <a:ext cx="20574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8"/>
          <p:cNvSpPr/>
          <p:nvPr/>
        </p:nvSpPr>
        <p:spPr>
          <a:xfrm>
            <a:off x="5863590" y="2173986"/>
            <a:ext cx="2571750" cy="342900"/>
          </a:xfrm>
          <a:prstGeom prst="roundRect">
            <a:avLst>
              <a:gd name="adj" fmla="val 14000"/>
            </a:avLst>
          </a:prstGeom>
          <a:solidFill>
            <a:srgbClr val="FFFFFF">
              <a:alpha val="10196"/>
            </a:srgbClr>
          </a:solidFill>
          <a:ln w="127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8"/>
          <p:cNvSpPr/>
          <p:nvPr/>
        </p:nvSpPr>
        <p:spPr>
          <a:xfrm>
            <a:off x="5863590" y="2173986"/>
            <a:ext cx="25717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Application Gateway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8" name="Google Shape;198;p18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rot="5400000">
            <a:off x="7029450" y="2475738"/>
            <a:ext cx="20574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8"/>
          <p:cNvSpPr/>
          <p:nvPr/>
        </p:nvSpPr>
        <p:spPr>
          <a:xfrm>
            <a:off x="5863590" y="2599182"/>
            <a:ext cx="2571750" cy="342900"/>
          </a:xfrm>
          <a:prstGeom prst="roundRect">
            <a:avLst>
              <a:gd name="adj" fmla="val 14000"/>
            </a:avLst>
          </a:prstGeom>
          <a:solidFill>
            <a:srgbClr val="FFFFFF">
              <a:alpha val="10196"/>
            </a:srgbClr>
          </a:solidFill>
          <a:ln w="127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8"/>
          <p:cNvSpPr/>
          <p:nvPr/>
        </p:nvSpPr>
        <p:spPr>
          <a:xfrm>
            <a:off x="5863590" y="2599182"/>
            <a:ext cx="25717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AGIC Ingress Controller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1" name="Google Shape;201;p18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rot="5400000">
            <a:off x="7029450" y="2900934"/>
            <a:ext cx="20574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8"/>
          <p:cNvSpPr/>
          <p:nvPr/>
        </p:nvSpPr>
        <p:spPr>
          <a:xfrm>
            <a:off x="5863590" y="3024378"/>
            <a:ext cx="2571750" cy="342900"/>
          </a:xfrm>
          <a:prstGeom prst="roundRect">
            <a:avLst>
              <a:gd name="adj" fmla="val 14000"/>
            </a:avLst>
          </a:prstGeom>
          <a:solidFill>
            <a:srgbClr val="FFFFFF">
              <a:alpha val="10196"/>
            </a:srgbClr>
          </a:solidFill>
          <a:ln w="127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8"/>
          <p:cNvSpPr/>
          <p:nvPr/>
        </p:nvSpPr>
        <p:spPr>
          <a:xfrm>
            <a:off x="5863590" y="3024378"/>
            <a:ext cx="25717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Pods (AKS Subnet)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8"/>
          <p:cNvSpPr/>
          <p:nvPr/>
        </p:nvSpPr>
        <p:spPr>
          <a:xfrm>
            <a:off x="5863590" y="3840480"/>
            <a:ext cx="257175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A8C9"/>
              </a:buClr>
              <a:buSzPts val="800"/>
              <a:buFont typeface="Calibri"/>
              <a:buNone/>
            </a:pPr>
            <a:r>
              <a:rPr lang="en" sz="800" b="0" i="1" u="none" strike="noStrike" cap="none">
                <a:solidFill>
                  <a:srgbClr val="8AA8C9"/>
                </a:solidFill>
                <a:latin typeface="Calibri"/>
                <a:ea typeface="Calibri"/>
                <a:cs typeface="Calibri"/>
                <a:sym typeface="Calibri"/>
              </a:rPr>
              <a:t>Primary region: Central India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A8C9"/>
              </a:buClr>
              <a:buSzPts val="800"/>
              <a:buFont typeface="Calibri"/>
              <a:buNone/>
            </a:pPr>
            <a:r>
              <a:rPr lang="en" sz="800" b="0" i="1" u="none" strike="noStrike" cap="none">
                <a:solidFill>
                  <a:srgbClr val="8AA8C9"/>
                </a:solidFill>
                <a:latin typeface="Calibri"/>
                <a:ea typeface="Calibri"/>
                <a:cs typeface="Calibri"/>
                <a:sym typeface="Calibri"/>
              </a:rPr>
              <a:t>AOAI availability: East US 2 / South India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8"/>
          <p:cNvSpPr/>
          <p:nvPr/>
        </p:nvSpPr>
        <p:spPr>
          <a:xfrm>
            <a:off x="8572500" y="4834890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9"/>
          <p:cNvSpPr/>
          <p:nvPr/>
        </p:nvSpPr>
        <p:spPr>
          <a:xfrm>
            <a:off x="480060" y="308610"/>
            <a:ext cx="4114800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900"/>
              <a:buFont typeface="Calibri"/>
              <a:buNone/>
            </a:pPr>
            <a:r>
              <a:rPr lang="en" sz="9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AZURE CLOUD ARCHITECTURE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9"/>
          <p:cNvSpPr/>
          <p:nvPr/>
        </p:nvSpPr>
        <p:spPr>
          <a:xfrm>
            <a:off x="480060" y="514350"/>
            <a:ext cx="788670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2300"/>
              <a:buFont typeface="Cambria"/>
              <a:buNone/>
            </a:pPr>
            <a:r>
              <a:rPr lang="en" sz="2300" b="1" i="0" u="none" strike="noStrike" cap="none">
                <a:solidFill>
                  <a:srgbClr val="1A2238"/>
                </a:solidFill>
                <a:latin typeface="Cambria"/>
                <a:ea typeface="Cambria"/>
                <a:cs typeface="Cambria"/>
                <a:sym typeface="Cambria"/>
              </a:rPr>
              <a:t>Managed Data Systems &amp; Integration Services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9"/>
          <p:cNvSpPr/>
          <p:nvPr/>
        </p:nvSpPr>
        <p:spPr>
          <a:xfrm>
            <a:off x="480060" y="1337310"/>
            <a:ext cx="1954530" cy="2468880"/>
          </a:xfrm>
          <a:prstGeom prst="roundRect">
            <a:avLst>
              <a:gd name="adj" fmla="val 3509"/>
            </a:avLst>
          </a:prstGeom>
          <a:solidFill>
            <a:srgbClr val="F7FAFC"/>
          </a:solidFill>
          <a:ln>
            <a:noFill/>
          </a:ln>
          <a:effectLst>
            <a:outerShdw blurRad="101600" dist="38100" dir="5400000" algn="bl" rotWithShape="0">
              <a:srgbClr val="0B1B33">
                <a:alpha val="18039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9"/>
          <p:cNvSpPr/>
          <p:nvPr/>
        </p:nvSpPr>
        <p:spPr>
          <a:xfrm>
            <a:off x="1200150" y="1543050"/>
            <a:ext cx="514350" cy="51435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5" name="Google Shape;215;p1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15879" y="1658779"/>
            <a:ext cx="282892" cy="282892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9"/>
          <p:cNvSpPr/>
          <p:nvPr/>
        </p:nvSpPr>
        <p:spPr>
          <a:xfrm>
            <a:off x="617220" y="2194560"/>
            <a:ext cx="1680210" cy="445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1000"/>
              <a:buFont typeface="Calibri"/>
              <a:buNone/>
            </a:pPr>
            <a:r>
              <a:rPr lang="en" sz="1000" b="1" i="0" u="none" strike="noStrike" cap="none">
                <a:solidFill>
                  <a:srgbClr val="1A2238"/>
                </a:solidFill>
                <a:latin typeface="Calibri"/>
                <a:ea typeface="Calibri"/>
                <a:cs typeface="Calibri"/>
                <a:sym typeface="Calibri"/>
              </a:rPr>
              <a:t>PostgreSQL Flexible Server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9"/>
          <p:cNvSpPr/>
          <p:nvPr/>
        </p:nvSpPr>
        <p:spPr>
          <a:xfrm>
            <a:off x="651510" y="2640330"/>
            <a:ext cx="161163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Calibri"/>
              <a:buNone/>
            </a:pPr>
            <a:r>
              <a:rPr lang="en" sz="8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Fully managed relational database for application states, profiles, and transactional data.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9"/>
          <p:cNvSpPr/>
          <p:nvPr/>
        </p:nvSpPr>
        <p:spPr>
          <a:xfrm>
            <a:off x="2585466" y="1337310"/>
            <a:ext cx="1954530" cy="2468880"/>
          </a:xfrm>
          <a:prstGeom prst="roundRect">
            <a:avLst>
              <a:gd name="adj" fmla="val 3509"/>
            </a:avLst>
          </a:prstGeom>
          <a:solidFill>
            <a:srgbClr val="F7FAFC"/>
          </a:solidFill>
          <a:ln>
            <a:noFill/>
          </a:ln>
          <a:effectLst>
            <a:outerShdw blurRad="101600" dist="38100" dir="5400000" algn="bl" rotWithShape="0">
              <a:srgbClr val="0B1B33">
                <a:alpha val="18039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9"/>
          <p:cNvSpPr/>
          <p:nvPr/>
        </p:nvSpPr>
        <p:spPr>
          <a:xfrm>
            <a:off x="3305556" y="1543050"/>
            <a:ext cx="514350" cy="51435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0" name="Google Shape;220;p1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21285" y="1658779"/>
            <a:ext cx="282893" cy="282892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9"/>
          <p:cNvSpPr/>
          <p:nvPr/>
        </p:nvSpPr>
        <p:spPr>
          <a:xfrm>
            <a:off x="2722626" y="2194560"/>
            <a:ext cx="1680210" cy="445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1000"/>
              <a:buFont typeface="Calibri"/>
              <a:buNone/>
            </a:pPr>
            <a:r>
              <a:rPr lang="en" sz="1000" b="1" i="0" u="none" strike="noStrike" cap="none">
                <a:solidFill>
                  <a:srgbClr val="1A2238"/>
                </a:solidFill>
                <a:latin typeface="Calibri"/>
                <a:ea typeface="Calibri"/>
                <a:cs typeface="Calibri"/>
                <a:sym typeface="Calibri"/>
              </a:rPr>
              <a:t>Redis Cache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9"/>
          <p:cNvSpPr/>
          <p:nvPr/>
        </p:nvSpPr>
        <p:spPr>
          <a:xfrm>
            <a:off x="2756916" y="2640330"/>
            <a:ext cx="161163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Calibri"/>
              <a:buNone/>
            </a:pPr>
            <a:r>
              <a:rPr lang="en" sz="8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Low-latency caching layer storing session info and vitals summaries.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9"/>
          <p:cNvSpPr/>
          <p:nvPr/>
        </p:nvSpPr>
        <p:spPr>
          <a:xfrm>
            <a:off x="4690872" y="1337310"/>
            <a:ext cx="1954530" cy="2468880"/>
          </a:xfrm>
          <a:prstGeom prst="roundRect">
            <a:avLst>
              <a:gd name="adj" fmla="val 3509"/>
            </a:avLst>
          </a:prstGeom>
          <a:solidFill>
            <a:srgbClr val="F7FAFC"/>
          </a:solidFill>
          <a:ln>
            <a:noFill/>
          </a:ln>
          <a:effectLst>
            <a:outerShdw blurRad="101600" dist="38100" dir="5400000" algn="bl" rotWithShape="0">
              <a:srgbClr val="0B1B33">
                <a:alpha val="18039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9"/>
          <p:cNvSpPr/>
          <p:nvPr/>
        </p:nvSpPr>
        <p:spPr>
          <a:xfrm>
            <a:off x="5410962" y="1543050"/>
            <a:ext cx="514350" cy="51435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5" name="Google Shape;225;p1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26691" y="1658779"/>
            <a:ext cx="282893" cy="282892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9"/>
          <p:cNvSpPr/>
          <p:nvPr/>
        </p:nvSpPr>
        <p:spPr>
          <a:xfrm>
            <a:off x="4828032" y="2194560"/>
            <a:ext cx="1680210" cy="445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1000"/>
              <a:buFont typeface="Calibri"/>
              <a:buNone/>
            </a:pPr>
            <a:r>
              <a:rPr lang="en" sz="1000" b="1" i="0" u="none" strike="noStrike" cap="none">
                <a:solidFill>
                  <a:srgbClr val="1A2238"/>
                </a:solidFill>
                <a:latin typeface="Calibri"/>
                <a:ea typeface="Calibri"/>
                <a:cs typeface="Calibri"/>
                <a:sym typeface="Calibri"/>
              </a:rPr>
              <a:t>Azure Storage Account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9"/>
          <p:cNvSpPr/>
          <p:nvPr/>
        </p:nvSpPr>
        <p:spPr>
          <a:xfrm>
            <a:off x="4862322" y="2640330"/>
            <a:ext cx="161163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Calibri"/>
              <a:buNone/>
            </a:pPr>
            <a:r>
              <a:rPr lang="en" sz="8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Secured blob storage for container configurations and raw medical documents.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9"/>
          <p:cNvSpPr/>
          <p:nvPr/>
        </p:nvSpPr>
        <p:spPr>
          <a:xfrm>
            <a:off x="6796278" y="1337310"/>
            <a:ext cx="1954530" cy="2468880"/>
          </a:xfrm>
          <a:prstGeom prst="roundRect">
            <a:avLst>
              <a:gd name="adj" fmla="val 3509"/>
            </a:avLst>
          </a:prstGeom>
          <a:solidFill>
            <a:srgbClr val="F7FAFC"/>
          </a:solidFill>
          <a:ln>
            <a:noFill/>
          </a:ln>
          <a:effectLst>
            <a:outerShdw blurRad="101600" dist="38100" dir="5400000" algn="bl" rotWithShape="0">
              <a:srgbClr val="0B1B33">
                <a:alpha val="18039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9"/>
          <p:cNvSpPr/>
          <p:nvPr/>
        </p:nvSpPr>
        <p:spPr>
          <a:xfrm>
            <a:off x="7516368" y="1543050"/>
            <a:ext cx="514350" cy="51435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0" name="Google Shape;230;p19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32097" y="1658779"/>
            <a:ext cx="282893" cy="282892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9"/>
          <p:cNvSpPr/>
          <p:nvPr/>
        </p:nvSpPr>
        <p:spPr>
          <a:xfrm>
            <a:off x="6933438" y="2194560"/>
            <a:ext cx="1680210" cy="445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1000"/>
              <a:buFont typeface="Calibri"/>
              <a:buNone/>
            </a:pPr>
            <a:r>
              <a:rPr lang="en" sz="1000" b="1" i="0" u="none" strike="noStrike" cap="none">
                <a:solidFill>
                  <a:srgbClr val="1A2238"/>
                </a:solidFill>
                <a:latin typeface="Calibri"/>
                <a:ea typeface="Calibri"/>
                <a:cs typeface="Calibri"/>
                <a:sym typeface="Calibri"/>
              </a:rPr>
              <a:t>Service Bus Premium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6967728" y="2640330"/>
            <a:ext cx="161163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Calibri"/>
              <a:buNone/>
            </a:pPr>
            <a:r>
              <a:rPr lang="en" sz="8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Messaging queue with topics and subscriptions for reliable, decoupled communication.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9"/>
          <p:cNvSpPr/>
          <p:nvPr/>
        </p:nvSpPr>
        <p:spPr>
          <a:xfrm>
            <a:off x="480060" y="4011930"/>
            <a:ext cx="812673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900"/>
              <a:buFont typeface="Calibri"/>
              <a:buNone/>
            </a:pPr>
            <a:r>
              <a:rPr lang="en" sz="900" b="1" i="0" u="none" strike="noStrike" cap="none">
                <a:solidFill>
                  <a:srgbClr val="1A2238"/>
                </a:solidFill>
                <a:latin typeface="Calibri"/>
                <a:ea typeface="Calibri"/>
                <a:cs typeface="Calibri"/>
                <a:sym typeface="Calibri"/>
              </a:rPr>
              <a:t>Design principle: </a:t>
            </a:r>
            <a:r>
              <a:rPr lang="en" sz="9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fully managed Azure PaaS services minimize administrative overhead while each tier — relational, cache, blob, and messaging — scales independently behind private connectivity.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9"/>
          <p:cNvSpPr/>
          <p:nvPr/>
        </p:nvSpPr>
        <p:spPr>
          <a:xfrm>
            <a:off x="8572500" y="4834890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0"/>
          <p:cNvSpPr/>
          <p:nvPr/>
        </p:nvSpPr>
        <p:spPr>
          <a:xfrm>
            <a:off x="480060" y="308610"/>
            <a:ext cx="4114800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900"/>
              <a:buFont typeface="Calibri"/>
              <a:buNone/>
            </a:pPr>
            <a:r>
              <a:rPr lang="en" sz="9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TERRAFORM INFRASTRUCTURE AS CODE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0"/>
          <p:cNvSpPr/>
          <p:nvPr/>
        </p:nvSpPr>
        <p:spPr>
          <a:xfrm>
            <a:off x="480060" y="514350"/>
            <a:ext cx="788670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2300"/>
              <a:buFont typeface="Cambria"/>
              <a:buNone/>
            </a:pPr>
            <a:r>
              <a:rPr lang="en" sz="2300" b="1" i="0" u="none" strike="noStrike" cap="none">
                <a:solidFill>
                  <a:srgbClr val="1A2238"/>
                </a:solidFill>
                <a:latin typeface="Cambria"/>
                <a:ea typeface="Cambria"/>
                <a:cs typeface="Cambria"/>
                <a:sym typeface="Cambria"/>
              </a:rPr>
              <a:t>Modular Infrastructure as Code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0"/>
          <p:cNvSpPr/>
          <p:nvPr/>
        </p:nvSpPr>
        <p:spPr>
          <a:xfrm>
            <a:off x="480060" y="1268730"/>
            <a:ext cx="3840480" cy="3120390"/>
          </a:xfrm>
          <a:prstGeom prst="roundRect">
            <a:avLst>
              <a:gd name="adj" fmla="val 2198"/>
            </a:avLst>
          </a:prstGeom>
          <a:solidFill>
            <a:srgbClr val="21295C"/>
          </a:solidFill>
          <a:ln>
            <a:noFill/>
          </a:ln>
          <a:effectLst>
            <a:outerShdw blurRad="101600" dist="38100" dir="5400000" algn="bl" rotWithShape="0">
              <a:srgbClr val="0B1B33">
                <a:alpha val="18039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20"/>
          <p:cNvSpPr/>
          <p:nvPr/>
        </p:nvSpPr>
        <p:spPr>
          <a:xfrm>
            <a:off x="651510" y="1371600"/>
            <a:ext cx="3429000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900"/>
              <a:buFont typeface="Calibri"/>
              <a:buNone/>
            </a:pPr>
            <a:r>
              <a:rPr lang="en" sz="900" b="1" i="0" u="none" strike="noStrike" cap="none">
                <a:solidFill>
                  <a:srgbClr val="CFE8F3"/>
                </a:solidFill>
                <a:latin typeface="Calibri"/>
                <a:ea typeface="Calibri"/>
                <a:cs typeface="Calibri"/>
                <a:sym typeface="Calibri"/>
              </a:rPr>
              <a:t>Project Structure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0"/>
          <p:cNvSpPr/>
          <p:nvPr/>
        </p:nvSpPr>
        <p:spPr>
          <a:xfrm>
            <a:off x="651510" y="1680210"/>
            <a:ext cx="3497580" cy="2537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E6F2"/>
              </a:buClr>
              <a:buSzPts val="900"/>
              <a:buFont typeface="Courier New"/>
              <a:buNone/>
            </a:pPr>
            <a:r>
              <a:rPr lang="en" sz="900" b="0" i="0" u="none" strike="noStrike" cap="none">
                <a:solidFill>
                  <a:srgbClr val="D7E6F2"/>
                </a:solidFill>
                <a:latin typeface="Courier New"/>
                <a:ea typeface="Courier New"/>
                <a:cs typeface="Courier New"/>
                <a:sym typeface="Courier New"/>
              </a:rPr>
              <a:t>main.tf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E6F2"/>
              </a:buClr>
              <a:buSzPts val="900"/>
              <a:buFont typeface="Courier New"/>
              <a:buNone/>
            </a:pPr>
            <a:r>
              <a:rPr lang="en" sz="900" b="0" i="0" u="none" strike="noStrike" cap="none">
                <a:solidFill>
                  <a:srgbClr val="D7E6F2"/>
                </a:solidFill>
                <a:latin typeface="Courier New"/>
                <a:ea typeface="Courier New"/>
                <a:cs typeface="Courier New"/>
                <a:sym typeface="Courier New"/>
              </a:rPr>
              <a:t>variables.tf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E6F2"/>
              </a:buClr>
              <a:buSzPts val="900"/>
              <a:buFont typeface="Courier New"/>
              <a:buNone/>
            </a:pPr>
            <a:r>
              <a:rPr lang="en" sz="900" b="0" i="0" u="none" strike="noStrike" cap="none">
                <a:solidFill>
                  <a:srgbClr val="D7E6F2"/>
                </a:solidFill>
                <a:latin typeface="Courier New"/>
                <a:ea typeface="Courier New"/>
                <a:cs typeface="Courier New"/>
                <a:sym typeface="Courier New"/>
              </a:rPr>
              <a:t>terraform.tfvars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E6F2"/>
              </a:buClr>
              <a:buSzPts val="900"/>
              <a:buFont typeface="Courier New"/>
              <a:buNone/>
            </a:pPr>
            <a:r>
              <a:rPr lang="en" sz="900" b="0" i="0" u="none" strike="noStrike" cap="none">
                <a:solidFill>
                  <a:srgbClr val="D7E6F2"/>
                </a:solidFill>
                <a:latin typeface="Courier New"/>
                <a:ea typeface="Courier New"/>
                <a:cs typeface="Courier New"/>
                <a:sym typeface="Courier New"/>
              </a:rPr>
              <a:t>backend.tf  (remote state + locking)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E6F2"/>
              </a:buClr>
              <a:buSzPts val="900"/>
              <a:buFont typeface="Courier New"/>
              <a:buNone/>
            </a:pPr>
            <a:r>
              <a:rPr lang="en" sz="900" b="0" i="0" u="none" strike="noStrike" cap="none">
                <a:solidFill>
                  <a:srgbClr val="D7E6F2"/>
                </a:solidFill>
                <a:latin typeface="Courier New"/>
                <a:ea typeface="Courier New"/>
                <a:cs typeface="Courier New"/>
                <a:sym typeface="Courier New"/>
              </a:rPr>
              <a:t>modules/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E6F2"/>
              </a:buClr>
              <a:buSzPts val="900"/>
              <a:buFont typeface="Courier New"/>
              <a:buNone/>
            </a:pPr>
            <a:r>
              <a:rPr lang="en" sz="900" b="0" i="0" u="none" strike="noStrike" cap="none">
                <a:solidFill>
                  <a:srgbClr val="D7E6F2"/>
                </a:solidFill>
                <a:latin typeface="Courier New"/>
                <a:ea typeface="Courier New"/>
                <a:cs typeface="Courier New"/>
                <a:sym typeface="Courier New"/>
              </a:rPr>
              <a:t>  ├─ database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E6F2"/>
              </a:buClr>
              <a:buSzPts val="900"/>
              <a:buFont typeface="Courier New"/>
              <a:buNone/>
            </a:pPr>
            <a:r>
              <a:rPr lang="en" sz="900" b="0" i="0" u="none" strike="noStrike" cap="none">
                <a:solidFill>
                  <a:srgbClr val="D7E6F2"/>
                </a:solidFill>
                <a:latin typeface="Courier New"/>
                <a:ea typeface="Courier New"/>
                <a:cs typeface="Courier New"/>
                <a:sym typeface="Courier New"/>
              </a:rPr>
              <a:t>  ├─ keyvault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E6F2"/>
              </a:buClr>
              <a:buSzPts val="900"/>
              <a:buFont typeface="Courier New"/>
              <a:buNone/>
            </a:pPr>
            <a:r>
              <a:rPr lang="en" sz="900" b="0" i="0" u="none" strike="noStrike" cap="none">
                <a:solidFill>
                  <a:srgbClr val="D7E6F2"/>
                </a:solidFill>
                <a:latin typeface="Courier New"/>
                <a:ea typeface="Courier New"/>
                <a:cs typeface="Courier New"/>
                <a:sym typeface="Courier New"/>
              </a:rPr>
              <a:t>  ├─ storage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E6F2"/>
              </a:buClr>
              <a:buSzPts val="900"/>
              <a:buFont typeface="Courier New"/>
              <a:buNone/>
            </a:pPr>
            <a:r>
              <a:rPr lang="en" sz="900" b="0" i="0" u="none" strike="noStrike" cap="none">
                <a:solidFill>
                  <a:srgbClr val="D7E6F2"/>
                </a:solidFill>
                <a:latin typeface="Courier New"/>
                <a:ea typeface="Courier New"/>
                <a:cs typeface="Courier New"/>
                <a:sym typeface="Courier New"/>
              </a:rPr>
              <a:t>  ├─ integration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E6F2"/>
              </a:buClr>
              <a:buSzPts val="900"/>
              <a:buFont typeface="Courier New"/>
              <a:buNone/>
            </a:pPr>
            <a:r>
              <a:rPr lang="en" sz="900" b="0" i="0" u="none" strike="noStrike" cap="none">
                <a:solidFill>
                  <a:srgbClr val="D7E6F2"/>
                </a:solidFill>
                <a:latin typeface="Courier New"/>
                <a:ea typeface="Courier New"/>
                <a:cs typeface="Courier New"/>
                <a:sym typeface="Courier New"/>
              </a:rPr>
              <a:t>  ├─ container_registry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E6F2"/>
              </a:buClr>
              <a:buSzPts val="900"/>
              <a:buFont typeface="Courier New"/>
              <a:buNone/>
            </a:pPr>
            <a:r>
              <a:rPr lang="en" sz="900" b="0" i="0" u="none" strike="noStrike" cap="none">
                <a:solidFill>
                  <a:srgbClr val="D7E6F2"/>
                </a:solidFill>
                <a:latin typeface="Courier New"/>
                <a:ea typeface="Courier New"/>
                <a:cs typeface="Courier New"/>
                <a:sym typeface="Courier New"/>
              </a:rPr>
              <a:t>  └─ entra_id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0"/>
          <p:cNvSpPr/>
          <p:nvPr/>
        </p:nvSpPr>
        <p:spPr>
          <a:xfrm>
            <a:off x="4526280" y="1337310"/>
            <a:ext cx="377190" cy="377190"/>
          </a:xfrm>
          <a:prstGeom prst="ellipse">
            <a:avLst/>
          </a:prstGeom>
          <a:solidFill>
            <a:srgbClr val="CFE8F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6" name="Google Shape;246;p2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11148" y="1422178"/>
            <a:ext cx="207454" cy="207455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0"/>
          <p:cNvSpPr/>
          <p:nvPr/>
        </p:nvSpPr>
        <p:spPr>
          <a:xfrm>
            <a:off x="5006340" y="1303020"/>
            <a:ext cx="36347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900"/>
              <a:buFont typeface="Calibri"/>
              <a:buNone/>
            </a:pPr>
            <a:r>
              <a:rPr lang="en" sz="900" b="1" i="0" u="none" strike="noStrike" cap="none">
                <a:solidFill>
                  <a:srgbClr val="1A2238"/>
                </a:solidFill>
                <a:latin typeface="Calibri"/>
                <a:ea typeface="Calibri"/>
                <a:cs typeface="Calibri"/>
                <a:sym typeface="Calibri"/>
              </a:rPr>
              <a:t>Directory Structure: </a:t>
            </a:r>
            <a:r>
              <a:rPr lang="en" sz="9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Clean separation of root variables and environment-specific parameters from reusable module blocks.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0"/>
          <p:cNvSpPr/>
          <p:nvPr/>
        </p:nvSpPr>
        <p:spPr>
          <a:xfrm>
            <a:off x="4526280" y="2105406"/>
            <a:ext cx="377190" cy="377190"/>
          </a:xfrm>
          <a:prstGeom prst="ellipse">
            <a:avLst/>
          </a:prstGeom>
          <a:solidFill>
            <a:srgbClr val="CFE8F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9" name="Google Shape;249;p2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11148" y="2190274"/>
            <a:ext cx="207454" cy="207454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0"/>
          <p:cNvSpPr/>
          <p:nvPr/>
        </p:nvSpPr>
        <p:spPr>
          <a:xfrm>
            <a:off x="5006340" y="2071116"/>
            <a:ext cx="36347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900"/>
              <a:buFont typeface="Calibri"/>
              <a:buNone/>
            </a:pPr>
            <a:r>
              <a:rPr lang="en" sz="900" b="1" i="0" u="none" strike="noStrike" cap="none">
                <a:solidFill>
                  <a:srgbClr val="1A2238"/>
                </a:solidFill>
                <a:latin typeface="Calibri"/>
                <a:ea typeface="Calibri"/>
                <a:cs typeface="Calibri"/>
                <a:sym typeface="Calibri"/>
              </a:rPr>
              <a:t>Custom Modules: </a:t>
            </a:r>
            <a:r>
              <a:rPr lang="en" sz="9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Local modules group related Azure resources — Key Vault, Database, Storage, and Integrations.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0"/>
          <p:cNvSpPr/>
          <p:nvPr/>
        </p:nvSpPr>
        <p:spPr>
          <a:xfrm>
            <a:off x="4526280" y="2873502"/>
            <a:ext cx="377190" cy="377190"/>
          </a:xfrm>
          <a:prstGeom prst="ellipse">
            <a:avLst/>
          </a:prstGeom>
          <a:solidFill>
            <a:srgbClr val="CFE8F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2" name="Google Shape;252;p20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11148" y="2958370"/>
            <a:ext cx="207454" cy="207454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0"/>
          <p:cNvSpPr/>
          <p:nvPr/>
        </p:nvSpPr>
        <p:spPr>
          <a:xfrm>
            <a:off x="5006340" y="2839212"/>
            <a:ext cx="36347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900"/>
              <a:buFont typeface="Calibri"/>
              <a:buNone/>
            </a:pPr>
            <a:r>
              <a:rPr lang="en" sz="900" b="1" i="0" u="none" strike="noStrike" cap="none">
                <a:solidFill>
                  <a:srgbClr val="1A2238"/>
                </a:solidFill>
                <a:latin typeface="Calibri"/>
                <a:ea typeface="Calibri"/>
                <a:cs typeface="Calibri"/>
                <a:sym typeface="Calibri"/>
              </a:rPr>
              <a:t>State Management: </a:t>
            </a:r>
            <a:r>
              <a:rPr lang="en" sz="9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State files locked and managed remotely in a dedicated Azure Storage Container for team collaboration.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0"/>
          <p:cNvSpPr/>
          <p:nvPr/>
        </p:nvSpPr>
        <p:spPr>
          <a:xfrm>
            <a:off x="4526280" y="3641598"/>
            <a:ext cx="377190" cy="377190"/>
          </a:xfrm>
          <a:prstGeom prst="ellipse">
            <a:avLst/>
          </a:prstGeom>
          <a:solidFill>
            <a:srgbClr val="CFE8F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5" name="Google Shape;255;p20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611148" y="3726466"/>
            <a:ext cx="207454" cy="207454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0"/>
          <p:cNvSpPr/>
          <p:nvPr/>
        </p:nvSpPr>
        <p:spPr>
          <a:xfrm>
            <a:off x="5006340" y="3607308"/>
            <a:ext cx="36347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900"/>
              <a:buFont typeface="Calibri"/>
              <a:buNone/>
            </a:pPr>
            <a:r>
              <a:rPr lang="en" sz="900" b="1" i="0" u="none" strike="noStrike" cap="none">
                <a:solidFill>
                  <a:srgbClr val="1A2238"/>
                </a:solidFill>
                <a:latin typeface="Calibri"/>
                <a:ea typeface="Calibri"/>
                <a:cs typeface="Calibri"/>
                <a:sym typeface="Calibri"/>
              </a:rPr>
              <a:t>Configurability: </a:t>
            </a:r>
            <a:r>
              <a:rPr lang="en" sz="9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Fully parameterized modules enable swift multi-environment spins — Dev, Staging, Prod.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0"/>
          <p:cNvSpPr/>
          <p:nvPr/>
        </p:nvSpPr>
        <p:spPr>
          <a:xfrm>
            <a:off x="8572500" y="4834890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1"/>
          <p:cNvSpPr/>
          <p:nvPr/>
        </p:nvSpPr>
        <p:spPr>
          <a:xfrm>
            <a:off x="480060" y="308610"/>
            <a:ext cx="4114800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A8C9"/>
              </a:buClr>
              <a:buSzPts val="900"/>
              <a:buFont typeface="Calibri"/>
              <a:buNone/>
            </a:pPr>
            <a:r>
              <a:rPr lang="en" sz="900" b="1" i="0" u="none" strike="noStrike" cap="none">
                <a:solidFill>
                  <a:srgbClr val="8AA8C9"/>
                </a:solidFill>
                <a:latin typeface="Calibri"/>
                <a:ea typeface="Calibri"/>
                <a:cs typeface="Calibri"/>
                <a:sym typeface="Calibri"/>
              </a:rPr>
              <a:t>SECURITY POSTURE &amp; HARDENING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1"/>
          <p:cNvSpPr/>
          <p:nvPr/>
        </p:nvSpPr>
        <p:spPr>
          <a:xfrm>
            <a:off x="480060" y="514350"/>
            <a:ext cx="788670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mbria"/>
              <a:buNone/>
            </a:pPr>
            <a:r>
              <a:rPr lang="en" sz="23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Zero-Trust Private Networking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1"/>
          <p:cNvSpPr/>
          <p:nvPr/>
        </p:nvSpPr>
        <p:spPr>
          <a:xfrm>
            <a:off x="480060" y="1303020"/>
            <a:ext cx="1783080" cy="685800"/>
          </a:xfrm>
          <a:prstGeom prst="roundRect">
            <a:avLst>
              <a:gd name="adj" fmla="val 8000"/>
            </a:avLst>
          </a:prstGeom>
          <a:solidFill>
            <a:srgbClr val="3A2A2A"/>
          </a:solidFill>
          <a:ln w="12700" cap="flat" cmpd="sng">
            <a:solidFill>
              <a:srgbClr val="C052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21"/>
          <p:cNvSpPr/>
          <p:nvPr/>
        </p:nvSpPr>
        <p:spPr>
          <a:xfrm>
            <a:off x="617220" y="1405890"/>
            <a:ext cx="411480" cy="411480"/>
          </a:xfrm>
          <a:prstGeom prst="ellipse">
            <a:avLst/>
          </a:prstGeom>
          <a:solidFill>
            <a:srgbClr val="5A343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7" name="Google Shape;267;p2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9803" y="1498473"/>
            <a:ext cx="226314" cy="226314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1"/>
          <p:cNvSpPr/>
          <p:nvPr/>
        </p:nvSpPr>
        <p:spPr>
          <a:xfrm>
            <a:off x="1131570" y="1303020"/>
            <a:ext cx="10972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6A1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E8A6A1"/>
                </a:solidFill>
                <a:latin typeface="Calibri"/>
                <a:ea typeface="Calibri"/>
                <a:cs typeface="Calibri"/>
                <a:sym typeface="Calibri"/>
              </a:rPr>
              <a:t>Public Internet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6A1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E8A6A1"/>
                </a:solidFill>
                <a:latin typeface="Calibri"/>
                <a:ea typeface="Calibri"/>
                <a:cs typeface="Calibri"/>
                <a:sym typeface="Calibri"/>
              </a:rPr>
              <a:t>(Blocked)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9" name="Google Shape;269;p2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66010" y="1543050"/>
            <a:ext cx="274320" cy="20574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1"/>
          <p:cNvSpPr/>
          <p:nvPr/>
        </p:nvSpPr>
        <p:spPr>
          <a:xfrm>
            <a:off x="2708910" y="1440180"/>
            <a:ext cx="411480" cy="411480"/>
          </a:xfrm>
          <a:prstGeom prst="ellipse">
            <a:avLst/>
          </a:prstGeom>
          <a:solidFill>
            <a:srgbClr val="8C2F2A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21"/>
          <p:cNvSpPr/>
          <p:nvPr/>
        </p:nvSpPr>
        <p:spPr>
          <a:xfrm>
            <a:off x="2708910" y="144018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1"/>
          <p:cNvSpPr/>
          <p:nvPr/>
        </p:nvSpPr>
        <p:spPr>
          <a:xfrm>
            <a:off x="3394710" y="1268730"/>
            <a:ext cx="1200150" cy="754380"/>
          </a:xfrm>
          <a:prstGeom prst="roundRect">
            <a:avLst>
              <a:gd name="adj" fmla="val 7273"/>
            </a:avLst>
          </a:prstGeom>
          <a:solidFill>
            <a:srgbClr val="2A3A6E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21"/>
          <p:cNvSpPr/>
          <p:nvPr/>
        </p:nvSpPr>
        <p:spPr>
          <a:xfrm>
            <a:off x="3771900" y="1351026"/>
            <a:ext cx="445770" cy="44577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4" name="Google Shape;274;p2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72198" y="1451324"/>
            <a:ext cx="245174" cy="245174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1"/>
          <p:cNvSpPr/>
          <p:nvPr/>
        </p:nvSpPr>
        <p:spPr>
          <a:xfrm>
            <a:off x="3429000" y="1817370"/>
            <a:ext cx="113157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700"/>
              <a:buFont typeface="Calibri"/>
              <a:buNone/>
            </a:pPr>
            <a:r>
              <a:rPr lang="en" sz="700" b="1" i="0" u="none" strike="noStrike" cap="none">
                <a:solidFill>
                  <a:srgbClr val="CFE8F3"/>
                </a:solidFill>
                <a:latin typeface="Calibri"/>
                <a:ea typeface="Calibri"/>
                <a:cs typeface="Calibri"/>
                <a:sym typeface="Calibri"/>
              </a:rPr>
              <a:t>Key Vault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1"/>
          <p:cNvSpPr/>
          <p:nvPr/>
        </p:nvSpPr>
        <p:spPr>
          <a:xfrm>
            <a:off x="4697730" y="1268730"/>
            <a:ext cx="1200150" cy="754380"/>
          </a:xfrm>
          <a:prstGeom prst="roundRect">
            <a:avLst>
              <a:gd name="adj" fmla="val 7273"/>
            </a:avLst>
          </a:prstGeom>
          <a:solidFill>
            <a:srgbClr val="2A3A6E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21"/>
          <p:cNvSpPr/>
          <p:nvPr/>
        </p:nvSpPr>
        <p:spPr>
          <a:xfrm>
            <a:off x="5074920" y="1351026"/>
            <a:ext cx="445770" cy="44577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8" name="Google Shape;278;p21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175218" y="1451324"/>
            <a:ext cx="245174" cy="245174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1"/>
          <p:cNvSpPr/>
          <p:nvPr/>
        </p:nvSpPr>
        <p:spPr>
          <a:xfrm>
            <a:off x="4732020" y="1817370"/>
            <a:ext cx="113157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700"/>
              <a:buFont typeface="Calibri"/>
              <a:buNone/>
            </a:pPr>
            <a:r>
              <a:rPr lang="en" sz="700" b="1" i="0" u="none" strike="noStrike" cap="none">
                <a:solidFill>
                  <a:srgbClr val="CFE8F3"/>
                </a:solidFill>
                <a:latin typeface="Calibri"/>
                <a:ea typeface="Calibri"/>
                <a:cs typeface="Calibri"/>
                <a:sym typeface="Calibri"/>
              </a:rPr>
              <a:t>Storage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1"/>
          <p:cNvSpPr/>
          <p:nvPr/>
        </p:nvSpPr>
        <p:spPr>
          <a:xfrm>
            <a:off x="6000750" y="1268730"/>
            <a:ext cx="1200150" cy="754380"/>
          </a:xfrm>
          <a:prstGeom prst="roundRect">
            <a:avLst>
              <a:gd name="adj" fmla="val 7273"/>
            </a:avLst>
          </a:prstGeom>
          <a:solidFill>
            <a:srgbClr val="2A3A6E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21"/>
          <p:cNvSpPr/>
          <p:nvPr/>
        </p:nvSpPr>
        <p:spPr>
          <a:xfrm>
            <a:off x="6377940" y="1351026"/>
            <a:ext cx="445770" cy="44577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82" name="Google Shape;282;p21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78238" y="1451324"/>
            <a:ext cx="245174" cy="245174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1"/>
          <p:cNvSpPr/>
          <p:nvPr/>
        </p:nvSpPr>
        <p:spPr>
          <a:xfrm>
            <a:off x="6035040" y="1817370"/>
            <a:ext cx="113157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700"/>
              <a:buFont typeface="Calibri"/>
              <a:buNone/>
            </a:pPr>
            <a:r>
              <a:rPr lang="en" sz="700" b="1" i="0" u="none" strike="noStrike" cap="none">
                <a:solidFill>
                  <a:srgbClr val="CFE8F3"/>
                </a:solidFill>
                <a:latin typeface="Calibri"/>
                <a:ea typeface="Calibri"/>
                <a:cs typeface="Calibri"/>
                <a:sym typeface="Calibri"/>
              </a:rPr>
              <a:t>Service Bus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1"/>
          <p:cNvSpPr/>
          <p:nvPr/>
        </p:nvSpPr>
        <p:spPr>
          <a:xfrm>
            <a:off x="7303770" y="1268730"/>
            <a:ext cx="1200150" cy="754380"/>
          </a:xfrm>
          <a:prstGeom prst="roundRect">
            <a:avLst>
              <a:gd name="adj" fmla="val 7273"/>
            </a:avLst>
          </a:prstGeom>
          <a:solidFill>
            <a:srgbClr val="2A3A6E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21"/>
          <p:cNvSpPr/>
          <p:nvPr/>
        </p:nvSpPr>
        <p:spPr>
          <a:xfrm>
            <a:off x="7680960" y="1351026"/>
            <a:ext cx="445770" cy="44577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86" name="Google Shape;286;p21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781258" y="1451324"/>
            <a:ext cx="245174" cy="245174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1"/>
          <p:cNvSpPr/>
          <p:nvPr/>
        </p:nvSpPr>
        <p:spPr>
          <a:xfrm>
            <a:off x="7338060" y="1817370"/>
            <a:ext cx="113157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700"/>
              <a:buFont typeface="Calibri"/>
              <a:buNone/>
            </a:pPr>
            <a:r>
              <a:rPr lang="en" sz="700" b="1" i="0" u="none" strike="noStrike" cap="none">
                <a:solidFill>
                  <a:srgbClr val="CFE8F3"/>
                </a:solidFill>
                <a:latin typeface="Calibri"/>
                <a:ea typeface="Calibri"/>
                <a:cs typeface="Calibri"/>
                <a:sym typeface="Calibri"/>
              </a:rPr>
              <a:t>Cognitive Services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1"/>
          <p:cNvSpPr/>
          <p:nvPr/>
        </p:nvSpPr>
        <p:spPr>
          <a:xfrm>
            <a:off x="3394710" y="2125980"/>
            <a:ext cx="5074920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A8C9"/>
              </a:buClr>
              <a:buSzPts val="800"/>
              <a:buFont typeface="Calibri"/>
              <a:buNone/>
            </a:pPr>
            <a:r>
              <a:rPr lang="en" sz="800" b="0" i="1" u="none" strike="noStrike" cap="none">
                <a:solidFill>
                  <a:srgbClr val="8AA8C9"/>
                </a:solidFill>
                <a:latin typeface="Calibri"/>
                <a:ea typeface="Calibri"/>
                <a:cs typeface="Calibri"/>
                <a:sym typeface="Calibri"/>
              </a:rPr>
              <a:t>Private Endpoints + Private DNS Zones route all traffic inside the VNet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1"/>
          <p:cNvSpPr/>
          <p:nvPr/>
        </p:nvSpPr>
        <p:spPr>
          <a:xfrm>
            <a:off x="514350" y="2832354"/>
            <a:ext cx="82296" cy="82296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21"/>
          <p:cNvSpPr/>
          <p:nvPr/>
        </p:nvSpPr>
        <p:spPr>
          <a:xfrm>
            <a:off x="685800" y="2653134"/>
            <a:ext cx="7818120" cy="445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" sz="9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Private Endpoints: </a:t>
            </a:r>
            <a:r>
              <a:rPr lang="en" sz="900" b="0" i="0" u="none" strike="noStrike" cap="none" dirty="0">
                <a:solidFill>
                  <a:srgbClr val="CFE8F3"/>
                </a:solidFill>
                <a:latin typeface="Calibri"/>
                <a:ea typeface="Calibri"/>
                <a:cs typeface="Calibri"/>
                <a:sym typeface="Calibri"/>
              </a:rPr>
              <a:t>Configured for Key Vault, Storage, Service Bus, and Cognitive Services — no traffic over the public internet.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1"/>
          <p:cNvSpPr/>
          <p:nvPr/>
        </p:nvSpPr>
        <p:spPr>
          <a:xfrm>
            <a:off x="514350" y="3326130"/>
            <a:ext cx="82296" cy="82296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21"/>
          <p:cNvSpPr/>
          <p:nvPr/>
        </p:nvSpPr>
        <p:spPr>
          <a:xfrm>
            <a:off x="685800" y="3146910"/>
            <a:ext cx="7818120" cy="445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" sz="9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Private DNS Zones: </a:t>
            </a:r>
            <a:r>
              <a:rPr lang="en" sz="900" b="0" i="0" u="none" strike="noStrike" cap="none" dirty="0">
                <a:solidFill>
                  <a:srgbClr val="CFE8F3"/>
                </a:solidFill>
                <a:latin typeface="Calibri"/>
                <a:ea typeface="Calibri"/>
                <a:cs typeface="Calibri"/>
                <a:sym typeface="Calibri"/>
              </a:rPr>
              <a:t>Dynamic name resolution inside the VNet, mapping private links directly to subnets.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1"/>
          <p:cNvSpPr/>
          <p:nvPr/>
        </p:nvSpPr>
        <p:spPr>
          <a:xfrm>
            <a:off x="514350" y="3819906"/>
            <a:ext cx="82296" cy="82296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21"/>
          <p:cNvSpPr/>
          <p:nvPr/>
        </p:nvSpPr>
        <p:spPr>
          <a:xfrm>
            <a:off x="685800" y="3640686"/>
            <a:ext cx="7818120" cy="445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Database Isolation: </a:t>
            </a:r>
            <a:r>
              <a:rPr lang="en" sz="900" b="0" i="0" u="none" strike="noStrike" cap="none">
                <a:solidFill>
                  <a:srgbClr val="CFE8F3"/>
                </a:solidFill>
                <a:latin typeface="Calibri"/>
                <a:ea typeface="Calibri"/>
                <a:cs typeface="Calibri"/>
                <a:sym typeface="Calibri"/>
              </a:rPr>
              <a:t>PostgreSQL Flexible Server deployed in a delegated subnet, with public access disabled.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1"/>
          <p:cNvSpPr/>
          <p:nvPr/>
        </p:nvSpPr>
        <p:spPr>
          <a:xfrm>
            <a:off x="514350" y="4313682"/>
            <a:ext cx="82296" cy="82296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21"/>
          <p:cNvSpPr/>
          <p:nvPr/>
        </p:nvSpPr>
        <p:spPr>
          <a:xfrm>
            <a:off x="685800" y="4134462"/>
            <a:ext cx="7818120" cy="445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Bastion &amp; Isolated VM: </a:t>
            </a:r>
            <a:r>
              <a:rPr lang="en" sz="900" b="0" i="0" u="none" strike="noStrike" cap="none">
                <a:solidFill>
                  <a:srgbClr val="CFE8F3"/>
                </a:solidFill>
                <a:latin typeface="Calibri"/>
                <a:ea typeface="Calibri"/>
                <a:cs typeface="Calibri"/>
                <a:sym typeface="Calibri"/>
              </a:rPr>
              <a:t>Build VM has zero public IPs; administration restricted via secure Azure Bastion.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1"/>
          <p:cNvSpPr/>
          <p:nvPr/>
        </p:nvSpPr>
        <p:spPr>
          <a:xfrm>
            <a:off x="8572500" y="4834890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AA8C9"/>
              </a:buClr>
              <a:buSzPts val="800"/>
              <a:buFont typeface="Calibri"/>
              <a:buNone/>
            </a:pPr>
            <a:r>
              <a:rPr lang="en" sz="800" b="0" i="0" u="none" strike="noStrike" cap="none">
                <a:solidFill>
                  <a:srgbClr val="8AA8C9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2"/>
          <p:cNvSpPr/>
          <p:nvPr/>
        </p:nvSpPr>
        <p:spPr>
          <a:xfrm>
            <a:off x="480060" y="308610"/>
            <a:ext cx="4114800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900"/>
              <a:buFont typeface="Calibri"/>
              <a:buNone/>
            </a:pPr>
            <a:r>
              <a:rPr lang="en" sz="9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SECURITY POSTURE &amp; HARDENING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2"/>
          <p:cNvSpPr/>
          <p:nvPr/>
        </p:nvSpPr>
        <p:spPr>
          <a:xfrm>
            <a:off x="480060" y="514350"/>
            <a:ext cx="788670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2300"/>
              <a:buFont typeface="Cambria"/>
              <a:buNone/>
            </a:pPr>
            <a:r>
              <a:rPr lang="en" sz="2300" b="1" i="0" u="none" strike="noStrike" cap="none">
                <a:solidFill>
                  <a:srgbClr val="1A2238"/>
                </a:solidFill>
                <a:latin typeface="Cambria"/>
                <a:ea typeface="Cambria"/>
                <a:cs typeface="Cambria"/>
                <a:sym typeface="Cambria"/>
              </a:rPr>
              <a:t>RBAC &amp; Identity-Centric Access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2"/>
          <p:cNvSpPr/>
          <p:nvPr/>
        </p:nvSpPr>
        <p:spPr>
          <a:xfrm>
            <a:off x="480060" y="1303020"/>
            <a:ext cx="2057400" cy="1028700"/>
          </a:xfrm>
          <a:prstGeom prst="roundRect">
            <a:avLst>
              <a:gd name="adj" fmla="val 6000"/>
            </a:avLst>
          </a:prstGeom>
          <a:solidFill>
            <a:srgbClr val="CFE8F3"/>
          </a:solidFill>
          <a:ln>
            <a:noFill/>
          </a:ln>
          <a:effectLst>
            <a:outerShdw blurRad="101600" dist="38100" dir="5400000" algn="bl" rotWithShape="0">
              <a:srgbClr val="0B1B33">
                <a:alpha val="18039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22"/>
          <p:cNvSpPr/>
          <p:nvPr/>
        </p:nvSpPr>
        <p:spPr>
          <a:xfrm>
            <a:off x="685800" y="1440180"/>
            <a:ext cx="548640" cy="5486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7" name="Google Shape;307;p2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9244" y="156362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2"/>
          <p:cNvSpPr/>
          <p:nvPr/>
        </p:nvSpPr>
        <p:spPr>
          <a:xfrm>
            <a:off x="1371600" y="1440180"/>
            <a:ext cx="1097280" cy="754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900"/>
              <a:buFont typeface="Calibri"/>
              <a:buNone/>
            </a:pPr>
            <a:r>
              <a:rPr lang="en" sz="900" b="1" i="0" u="none" strike="noStrike" cap="none">
                <a:solidFill>
                  <a:srgbClr val="1A2238"/>
                </a:solidFill>
                <a:latin typeface="Calibri"/>
                <a:ea typeface="Calibri"/>
                <a:cs typeface="Calibri"/>
                <a:sym typeface="Calibri"/>
              </a:rPr>
              <a:t>Entra ID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900"/>
              <a:buFont typeface="Calibri"/>
              <a:buNone/>
            </a:pPr>
            <a:r>
              <a:rPr lang="en" sz="900" b="1" i="0" u="none" strike="noStrike" cap="none">
                <a:solidFill>
                  <a:srgbClr val="1A2238"/>
                </a:solidFill>
                <a:latin typeface="Calibri"/>
                <a:ea typeface="Calibri"/>
                <a:cs typeface="Calibri"/>
                <a:sym typeface="Calibri"/>
              </a:rPr>
              <a:t>App Registration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9" name="Google Shape;309;p2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74620" y="1748790"/>
            <a:ext cx="308610" cy="24003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2"/>
          <p:cNvSpPr/>
          <p:nvPr/>
        </p:nvSpPr>
        <p:spPr>
          <a:xfrm>
            <a:off x="3154680" y="1303020"/>
            <a:ext cx="2125980" cy="1028700"/>
          </a:xfrm>
          <a:prstGeom prst="roundRect">
            <a:avLst>
              <a:gd name="adj" fmla="val 6000"/>
            </a:avLst>
          </a:prstGeom>
          <a:solidFill>
            <a:srgbClr val="F7FAFC"/>
          </a:solidFill>
          <a:ln>
            <a:noFill/>
          </a:ln>
          <a:effectLst>
            <a:outerShdw blurRad="101600" dist="38100" dir="5400000" algn="bl" rotWithShape="0">
              <a:srgbClr val="0B1B33">
                <a:alpha val="18039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22"/>
          <p:cNvSpPr/>
          <p:nvPr/>
        </p:nvSpPr>
        <p:spPr>
          <a:xfrm>
            <a:off x="3326130" y="1474470"/>
            <a:ext cx="480060" cy="48006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12" name="Google Shape;312;p2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34143" y="1582484"/>
            <a:ext cx="264033" cy="264033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2"/>
          <p:cNvSpPr/>
          <p:nvPr/>
        </p:nvSpPr>
        <p:spPr>
          <a:xfrm>
            <a:off x="3909060" y="1405890"/>
            <a:ext cx="126873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900"/>
              <a:buFont typeface="Calibri"/>
              <a:buNone/>
            </a:pPr>
            <a:r>
              <a:rPr lang="en" sz="900" b="1" i="0" u="none" strike="noStrike" cap="none">
                <a:solidFill>
                  <a:srgbClr val="1A2238"/>
                </a:solidFill>
                <a:latin typeface="Calibri"/>
                <a:ea typeface="Calibri"/>
                <a:cs typeface="Calibri"/>
                <a:sym typeface="Calibri"/>
              </a:rPr>
              <a:t>AKS Kubelet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2"/>
          <p:cNvSpPr/>
          <p:nvPr/>
        </p:nvSpPr>
        <p:spPr>
          <a:xfrm>
            <a:off x="3909060" y="1680210"/>
            <a:ext cx="1268730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Secrets User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2"/>
          <p:cNvSpPr/>
          <p:nvPr/>
        </p:nvSpPr>
        <p:spPr>
          <a:xfrm>
            <a:off x="3909060" y="1906524"/>
            <a:ext cx="126873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Calibri"/>
              <a:buNone/>
            </a:pPr>
            <a:r>
              <a:rPr lang="en" sz="800" b="0" i="1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read-only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2"/>
          <p:cNvSpPr/>
          <p:nvPr/>
        </p:nvSpPr>
        <p:spPr>
          <a:xfrm>
            <a:off x="5417820" y="1303020"/>
            <a:ext cx="2125980" cy="1028700"/>
          </a:xfrm>
          <a:prstGeom prst="roundRect">
            <a:avLst>
              <a:gd name="adj" fmla="val 6000"/>
            </a:avLst>
          </a:prstGeom>
          <a:solidFill>
            <a:srgbClr val="F7FAFC"/>
          </a:solidFill>
          <a:ln>
            <a:noFill/>
          </a:ln>
          <a:effectLst>
            <a:outerShdw blurRad="101600" dist="38100" dir="5400000" algn="bl" rotWithShape="0">
              <a:srgbClr val="0B1B33">
                <a:alpha val="18039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22"/>
          <p:cNvSpPr/>
          <p:nvPr/>
        </p:nvSpPr>
        <p:spPr>
          <a:xfrm>
            <a:off x="5589270" y="1474470"/>
            <a:ext cx="480060" cy="48006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18" name="Google Shape;318;p2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697284" y="1582484"/>
            <a:ext cx="264033" cy="264033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2"/>
          <p:cNvSpPr/>
          <p:nvPr/>
        </p:nvSpPr>
        <p:spPr>
          <a:xfrm>
            <a:off x="6172200" y="1405890"/>
            <a:ext cx="126873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900"/>
              <a:buFont typeface="Calibri"/>
              <a:buNone/>
            </a:pPr>
            <a:r>
              <a:rPr lang="en" sz="900" b="1" i="0" u="none" strike="noStrike" cap="none">
                <a:solidFill>
                  <a:srgbClr val="1A2238"/>
                </a:solidFill>
                <a:latin typeface="Calibri"/>
                <a:ea typeface="Calibri"/>
                <a:cs typeface="Calibri"/>
                <a:sym typeface="Calibri"/>
              </a:rPr>
              <a:t>Deployer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2"/>
          <p:cNvSpPr/>
          <p:nvPr/>
        </p:nvSpPr>
        <p:spPr>
          <a:xfrm>
            <a:off x="6172200" y="1680210"/>
            <a:ext cx="1268730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Secrets Officer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2"/>
          <p:cNvSpPr/>
          <p:nvPr/>
        </p:nvSpPr>
        <p:spPr>
          <a:xfrm>
            <a:off x="6172200" y="1906524"/>
            <a:ext cx="126873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Calibri"/>
              <a:buNone/>
            </a:pPr>
            <a:r>
              <a:rPr lang="en" sz="800" b="0" i="1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read/write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2"/>
          <p:cNvSpPr/>
          <p:nvPr/>
        </p:nvSpPr>
        <p:spPr>
          <a:xfrm>
            <a:off x="7818120" y="1645920"/>
            <a:ext cx="582930" cy="582930"/>
          </a:xfrm>
          <a:prstGeom prst="ellipse">
            <a:avLst/>
          </a:prstGeom>
          <a:solidFill>
            <a:srgbClr val="21295C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23" name="Google Shape;323;p22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949279" y="1777079"/>
            <a:ext cx="320612" cy="320612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2"/>
          <p:cNvSpPr/>
          <p:nvPr/>
        </p:nvSpPr>
        <p:spPr>
          <a:xfrm>
            <a:off x="7543800" y="2276856"/>
            <a:ext cx="106299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1A2238"/>
                </a:solidFill>
                <a:latin typeface="Calibri"/>
                <a:ea typeface="Calibri"/>
                <a:cs typeface="Calibri"/>
                <a:sym typeface="Calibri"/>
              </a:rPr>
              <a:t>Key Vault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2"/>
          <p:cNvSpPr/>
          <p:nvPr/>
        </p:nvSpPr>
        <p:spPr>
          <a:xfrm>
            <a:off x="514350" y="2935224"/>
            <a:ext cx="82296" cy="82296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22"/>
          <p:cNvSpPr/>
          <p:nvPr/>
        </p:nvSpPr>
        <p:spPr>
          <a:xfrm>
            <a:off x="685800" y="2753487"/>
            <a:ext cx="7818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900"/>
              <a:buFont typeface="Calibri"/>
              <a:buNone/>
            </a:pPr>
            <a:r>
              <a:rPr lang="en" sz="900" b="1" i="0" u="none" strike="noStrike" cap="none" dirty="0">
                <a:solidFill>
                  <a:srgbClr val="1A2238"/>
                </a:solidFill>
                <a:latin typeface="Calibri"/>
                <a:ea typeface="Calibri"/>
                <a:cs typeface="Calibri"/>
                <a:sym typeface="Calibri"/>
              </a:rPr>
              <a:t>Entra ID Integration: </a:t>
            </a:r>
            <a:r>
              <a:rPr lang="en" sz="900" b="0" i="0" u="none" strike="noStrike" cap="none" dirty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OAuth 2.0 app registration handles token issuance and user identity authentication.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2"/>
          <p:cNvSpPr/>
          <p:nvPr/>
        </p:nvSpPr>
        <p:spPr>
          <a:xfrm>
            <a:off x="514350" y="3360420"/>
            <a:ext cx="82296" cy="82296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22"/>
          <p:cNvSpPr/>
          <p:nvPr/>
        </p:nvSpPr>
        <p:spPr>
          <a:xfrm>
            <a:off x="685800" y="3195831"/>
            <a:ext cx="7818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900"/>
              <a:buFont typeface="Calibri"/>
              <a:buNone/>
            </a:pPr>
            <a:r>
              <a:rPr lang="en" sz="900" b="1" i="0" u="none" strike="noStrike" cap="none" dirty="0">
                <a:solidFill>
                  <a:srgbClr val="1A2238"/>
                </a:solidFill>
                <a:latin typeface="Calibri"/>
                <a:ea typeface="Calibri"/>
                <a:cs typeface="Calibri"/>
                <a:sym typeface="Calibri"/>
              </a:rPr>
              <a:t>Azure RBAC Enforcement: </a:t>
            </a:r>
            <a:r>
              <a:rPr lang="en" sz="900" b="0" i="0" u="none" strike="noStrike" cap="none" dirty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RBAC roles replace access keys — e.g. Key Vault Secrets Officer and Secrets User.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2"/>
          <p:cNvSpPr/>
          <p:nvPr/>
        </p:nvSpPr>
        <p:spPr>
          <a:xfrm>
            <a:off x="514350" y="3785616"/>
            <a:ext cx="82296" cy="82296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22"/>
          <p:cNvSpPr/>
          <p:nvPr/>
        </p:nvSpPr>
        <p:spPr>
          <a:xfrm>
            <a:off x="685800" y="3621027"/>
            <a:ext cx="7818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900"/>
              <a:buFont typeface="Calibri"/>
              <a:buNone/>
            </a:pPr>
            <a:r>
              <a:rPr lang="en" sz="900" b="1" i="0" u="none" strike="noStrike" cap="none">
                <a:solidFill>
                  <a:srgbClr val="1A2238"/>
                </a:solidFill>
                <a:latin typeface="Calibri"/>
                <a:ea typeface="Calibri"/>
                <a:cs typeface="Calibri"/>
                <a:sym typeface="Calibri"/>
              </a:rPr>
              <a:t>Least Privilege Access: </a:t>
            </a:r>
            <a:r>
              <a:rPr lang="en" sz="9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AKS Kubelet identity gets read-only Secrets User; the deployer gets write permissions.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2"/>
          <p:cNvSpPr/>
          <p:nvPr/>
        </p:nvSpPr>
        <p:spPr>
          <a:xfrm>
            <a:off x="514350" y="4210812"/>
            <a:ext cx="82296" cy="82296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22"/>
          <p:cNvSpPr/>
          <p:nvPr/>
        </p:nvSpPr>
        <p:spPr>
          <a:xfrm>
            <a:off x="685800" y="4046223"/>
            <a:ext cx="7818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238"/>
              </a:buClr>
              <a:buSzPts val="900"/>
              <a:buFont typeface="Calibri"/>
              <a:buNone/>
            </a:pPr>
            <a:r>
              <a:rPr lang="en" sz="900" b="1" i="0" u="none" strike="noStrike" cap="none">
                <a:solidFill>
                  <a:srgbClr val="1A2238"/>
                </a:solidFill>
                <a:latin typeface="Calibri"/>
                <a:ea typeface="Calibri"/>
                <a:cs typeface="Calibri"/>
                <a:sym typeface="Calibri"/>
              </a:rPr>
              <a:t>Secure ACR Attachments: </a:t>
            </a:r>
            <a:r>
              <a:rPr lang="en" sz="9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AKS is natively linked to ACR, automatically establishing secure container pull permissions.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2"/>
          <p:cNvSpPr/>
          <p:nvPr/>
        </p:nvSpPr>
        <p:spPr>
          <a:xfrm>
            <a:off x="8572500" y="4834890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3"/>
          <p:cNvSpPr/>
          <p:nvPr/>
        </p:nvSpPr>
        <p:spPr>
          <a:xfrm>
            <a:off x="-1371600" y="3086100"/>
            <a:ext cx="4114800" cy="4114800"/>
          </a:xfrm>
          <a:prstGeom prst="ellipse">
            <a:avLst/>
          </a:prstGeom>
          <a:solidFill>
            <a:srgbClr val="065A82">
              <a:alpha val="25098"/>
            </a:srgbClr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23"/>
          <p:cNvSpPr/>
          <p:nvPr/>
        </p:nvSpPr>
        <p:spPr>
          <a:xfrm>
            <a:off x="617220" y="377190"/>
            <a:ext cx="4114800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A8C9"/>
              </a:buClr>
              <a:buSzPts val="900"/>
              <a:buFont typeface="Calibri"/>
              <a:buNone/>
            </a:pPr>
            <a:r>
              <a:rPr lang="en" sz="900" b="1" i="0" u="none" strike="noStrike" cap="none">
                <a:solidFill>
                  <a:srgbClr val="8AA8C9"/>
                </a:solidFill>
                <a:latin typeface="Calibri"/>
                <a:ea typeface="Calibri"/>
                <a:cs typeface="Calibri"/>
                <a:sym typeface="Calibri"/>
              </a:rPr>
              <a:t>CONCLUSION &amp; KEY TAKEAWAYS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3"/>
          <p:cNvSpPr/>
          <p:nvPr/>
        </p:nvSpPr>
        <p:spPr>
          <a:xfrm>
            <a:off x="617220" y="617220"/>
            <a:ext cx="720090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lang="en" sz="24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Architectural Summary &amp; Next Steps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3"/>
          <p:cNvSpPr/>
          <p:nvPr/>
        </p:nvSpPr>
        <p:spPr>
          <a:xfrm>
            <a:off x="617220" y="1371600"/>
            <a:ext cx="1748790" cy="960120"/>
          </a:xfrm>
          <a:prstGeom prst="roundRect">
            <a:avLst>
              <a:gd name="adj" fmla="val 7143"/>
            </a:avLst>
          </a:prstGeom>
          <a:solidFill>
            <a:srgbClr val="2A3A6E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23"/>
          <p:cNvSpPr/>
          <p:nvPr/>
        </p:nvSpPr>
        <p:spPr>
          <a:xfrm>
            <a:off x="1268730" y="1495044"/>
            <a:ext cx="445770" cy="44577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44" name="Google Shape;344;p2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69028" y="1595342"/>
            <a:ext cx="245174" cy="245174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3"/>
          <p:cNvSpPr/>
          <p:nvPr/>
        </p:nvSpPr>
        <p:spPr>
          <a:xfrm>
            <a:off x="617220" y="2023110"/>
            <a:ext cx="1748790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900"/>
              <a:buFont typeface="Calibri"/>
              <a:buNone/>
            </a:pPr>
            <a:r>
              <a:rPr lang="en" sz="900" b="1" i="0" u="none" strike="noStrike" cap="none">
                <a:solidFill>
                  <a:srgbClr val="CFE8F3"/>
                </a:solidFill>
                <a:latin typeface="Calibri"/>
                <a:ea typeface="Calibri"/>
                <a:cs typeface="Calibri"/>
                <a:sym typeface="Calibri"/>
              </a:rPr>
              <a:t>Build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6" name="Google Shape;346;p2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79726" y="1748790"/>
            <a:ext cx="150876" cy="20574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23"/>
          <p:cNvSpPr/>
          <p:nvPr/>
        </p:nvSpPr>
        <p:spPr>
          <a:xfrm>
            <a:off x="2537460" y="1371600"/>
            <a:ext cx="1748790" cy="960120"/>
          </a:xfrm>
          <a:prstGeom prst="roundRect">
            <a:avLst>
              <a:gd name="adj" fmla="val 7143"/>
            </a:avLst>
          </a:prstGeom>
          <a:solidFill>
            <a:srgbClr val="2A3A6E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23"/>
          <p:cNvSpPr/>
          <p:nvPr/>
        </p:nvSpPr>
        <p:spPr>
          <a:xfrm>
            <a:off x="3188970" y="1495044"/>
            <a:ext cx="445770" cy="44577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49" name="Google Shape;349;p2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89268" y="1595342"/>
            <a:ext cx="245174" cy="245174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23"/>
          <p:cNvSpPr/>
          <p:nvPr/>
        </p:nvSpPr>
        <p:spPr>
          <a:xfrm>
            <a:off x="2537460" y="2023110"/>
            <a:ext cx="1748790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900"/>
              <a:buFont typeface="Calibri"/>
              <a:buNone/>
            </a:pPr>
            <a:r>
              <a:rPr lang="en" sz="900" b="1" i="0" u="none" strike="noStrike" cap="none">
                <a:solidFill>
                  <a:srgbClr val="CFE8F3"/>
                </a:solidFill>
                <a:latin typeface="Calibri"/>
                <a:ea typeface="Calibri"/>
                <a:cs typeface="Calibri"/>
                <a:sym typeface="Calibri"/>
              </a:rPr>
              <a:t>Secure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1" name="Google Shape;351;p2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99966" y="1748790"/>
            <a:ext cx="150876" cy="20574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23"/>
          <p:cNvSpPr/>
          <p:nvPr/>
        </p:nvSpPr>
        <p:spPr>
          <a:xfrm>
            <a:off x="4457700" y="1371600"/>
            <a:ext cx="1748790" cy="960120"/>
          </a:xfrm>
          <a:prstGeom prst="roundRect">
            <a:avLst>
              <a:gd name="adj" fmla="val 7143"/>
            </a:avLst>
          </a:prstGeom>
          <a:solidFill>
            <a:srgbClr val="2A3A6E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23"/>
          <p:cNvSpPr/>
          <p:nvPr/>
        </p:nvSpPr>
        <p:spPr>
          <a:xfrm>
            <a:off x="5109210" y="1495044"/>
            <a:ext cx="445770" cy="44577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54" name="Google Shape;354;p2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09508" y="1595342"/>
            <a:ext cx="245174" cy="245174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23"/>
          <p:cNvSpPr/>
          <p:nvPr/>
        </p:nvSpPr>
        <p:spPr>
          <a:xfrm>
            <a:off x="4457700" y="2023110"/>
            <a:ext cx="1748790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900"/>
              <a:buFont typeface="Calibri"/>
              <a:buNone/>
            </a:pPr>
            <a:r>
              <a:rPr lang="en" sz="900" b="1" i="0" u="none" strike="noStrike" cap="none">
                <a:solidFill>
                  <a:srgbClr val="CFE8F3"/>
                </a:solidFill>
                <a:latin typeface="Calibri"/>
                <a:ea typeface="Calibri"/>
                <a:cs typeface="Calibri"/>
                <a:sym typeface="Calibri"/>
              </a:rPr>
              <a:t>Scale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6" name="Google Shape;356;p2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20206" y="1748790"/>
            <a:ext cx="150876" cy="20574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23"/>
          <p:cNvSpPr/>
          <p:nvPr/>
        </p:nvSpPr>
        <p:spPr>
          <a:xfrm>
            <a:off x="6377940" y="1371600"/>
            <a:ext cx="1748790" cy="960120"/>
          </a:xfrm>
          <a:prstGeom prst="roundRect">
            <a:avLst>
              <a:gd name="adj" fmla="val 7143"/>
            </a:avLst>
          </a:prstGeom>
          <a:solidFill>
            <a:srgbClr val="2A3A6E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23"/>
          <p:cNvSpPr/>
          <p:nvPr/>
        </p:nvSpPr>
        <p:spPr>
          <a:xfrm>
            <a:off x="7029450" y="1495044"/>
            <a:ext cx="445770" cy="44577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59" name="Google Shape;359;p23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129748" y="1595342"/>
            <a:ext cx="245174" cy="245174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23"/>
          <p:cNvSpPr/>
          <p:nvPr/>
        </p:nvSpPr>
        <p:spPr>
          <a:xfrm>
            <a:off x="6377940" y="2023110"/>
            <a:ext cx="1748790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FE8F3"/>
              </a:buClr>
              <a:buSzPts val="900"/>
              <a:buFont typeface="Calibri"/>
              <a:buNone/>
            </a:pPr>
            <a:r>
              <a:rPr lang="en" sz="900" b="1" i="0" u="none" strike="noStrike" cap="none">
                <a:solidFill>
                  <a:srgbClr val="CFE8F3"/>
                </a:solidFill>
                <a:latin typeface="Calibri"/>
                <a:ea typeface="Calibri"/>
                <a:cs typeface="Calibri"/>
                <a:sym typeface="Calibri"/>
              </a:rPr>
              <a:t>Monitor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3"/>
          <p:cNvSpPr/>
          <p:nvPr/>
        </p:nvSpPr>
        <p:spPr>
          <a:xfrm>
            <a:off x="651510" y="2729484"/>
            <a:ext cx="82296" cy="82296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23"/>
          <p:cNvSpPr/>
          <p:nvPr/>
        </p:nvSpPr>
        <p:spPr>
          <a:xfrm>
            <a:off x="822960" y="2652675"/>
            <a:ext cx="7406640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" sz="10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Turnkey Infrastructure: </a:t>
            </a:r>
            <a:r>
              <a:rPr lang="en" sz="1000" b="0" i="0" u="none" strike="noStrike" cap="none" dirty="0">
                <a:solidFill>
                  <a:srgbClr val="CFE8F3"/>
                </a:solidFill>
                <a:latin typeface="Calibri"/>
                <a:ea typeface="Calibri"/>
                <a:cs typeface="Calibri"/>
                <a:sym typeface="Calibri"/>
              </a:rPr>
              <a:t>Fully automated deployment from scratch with a single terraform apply.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3"/>
          <p:cNvSpPr/>
          <p:nvPr/>
        </p:nvSpPr>
        <p:spPr>
          <a:xfrm>
            <a:off x="651510" y="3106674"/>
            <a:ext cx="82296" cy="82296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23"/>
          <p:cNvSpPr/>
          <p:nvPr/>
        </p:nvSpPr>
        <p:spPr>
          <a:xfrm>
            <a:off x="822960" y="3029865"/>
            <a:ext cx="7406640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" sz="10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Resiliency &amp; Scale: </a:t>
            </a:r>
            <a:r>
              <a:rPr lang="en" sz="1000" b="0" i="0" u="none" strike="noStrike" cap="none" dirty="0">
                <a:solidFill>
                  <a:srgbClr val="CFE8F3"/>
                </a:solidFill>
                <a:latin typeface="Calibri"/>
                <a:ea typeface="Calibri"/>
                <a:cs typeface="Calibri"/>
                <a:sym typeface="Calibri"/>
              </a:rPr>
              <a:t>Decoupled microservices on AKS ready for autoscaling.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3"/>
          <p:cNvSpPr/>
          <p:nvPr/>
        </p:nvSpPr>
        <p:spPr>
          <a:xfrm>
            <a:off x="651510" y="3483864"/>
            <a:ext cx="82296" cy="82296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23"/>
          <p:cNvSpPr/>
          <p:nvPr/>
        </p:nvSpPr>
        <p:spPr>
          <a:xfrm>
            <a:off x="822960" y="3407055"/>
            <a:ext cx="7406640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Uncompromised Security: </a:t>
            </a:r>
            <a:r>
              <a:rPr lang="en" sz="1000" b="0" i="0" u="none" strike="noStrike" cap="none">
                <a:solidFill>
                  <a:srgbClr val="CFE8F3"/>
                </a:solidFill>
                <a:latin typeface="Calibri"/>
                <a:ea typeface="Calibri"/>
                <a:cs typeface="Calibri"/>
                <a:sym typeface="Calibri"/>
              </a:rPr>
              <a:t>Network isolation combined with role-based access management.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3"/>
          <p:cNvSpPr/>
          <p:nvPr/>
        </p:nvSpPr>
        <p:spPr>
          <a:xfrm>
            <a:off x="617220" y="3943350"/>
            <a:ext cx="7543800" cy="651510"/>
          </a:xfrm>
          <a:prstGeom prst="roundRect">
            <a:avLst>
              <a:gd name="adj" fmla="val 10526"/>
            </a:avLst>
          </a:prstGeom>
          <a:solidFill>
            <a:srgbClr val="FFFFFF">
              <a:alpha val="7843"/>
            </a:srgbClr>
          </a:solidFill>
          <a:ln w="127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23"/>
          <p:cNvSpPr/>
          <p:nvPr/>
        </p:nvSpPr>
        <p:spPr>
          <a:xfrm>
            <a:off x="788670" y="3943350"/>
            <a:ext cx="7200900" cy="651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Next Steps:  </a:t>
            </a:r>
            <a:r>
              <a:rPr lang="en" sz="1000" b="0" i="0" u="none" strike="noStrike" cap="none">
                <a:solidFill>
                  <a:srgbClr val="CFE8F3"/>
                </a:solidFill>
                <a:latin typeface="Calibri"/>
                <a:ea typeface="Calibri"/>
                <a:cs typeface="Calibri"/>
                <a:sym typeface="Calibri"/>
              </a:rPr>
              <a:t>Implement CI/CD pipelines in GitHub Actions and configure advanced Grafana monitoring dashboards.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3"/>
          <p:cNvSpPr/>
          <p:nvPr/>
        </p:nvSpPr>
        <p:spPr>
          <a:xfrm>
            <a:off x="8572500" y="4834890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AA8C9"/>
              </a:buClr>
              <a:buSzPts val="800"/>
              <a:buFont typeface="Calibri"/>
              <a:buNone/>
            </a:pPr>
            <a:r>
              <a:rPr lang="en" sz="800" b="0" i="0" u="none" strike="noStrike" cap="none">
                <a:solidFill>
                  <a:srgbClr val="8AA8C9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823</Words>
  <Application>Microsoft Office PowerPoint</Application>
  <PresentationFormat>On-screen Show (16:9)</PresentationFormat>
  <Paragraphs>149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Yaswanth Reddy Bobbiti(UST,IN)</cp:lastModifiedBy>
  <cp:revision>3</cp:revision>
  <dcterms:modified xsi:type="dcterms:W3CDTF">2026-06-19T12:46:03Z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5ffddfa-74ad-4c1f-9757-a38a11902f1c_Enabled">
    <vt:lpwstr>true</vt:lpwstr>
  </property>
  <property fmtid="{D5CDD505-2E9C-101B-9397-08002B2CF9AE}" pid="3" name="MSIP_Label_15ffddfa-74ad-4c1f-9757-a38a11902f1c_SetDate">
    <vt:lpwstr>2026-06-19T11:58:34Z</vt:lpwstr>
  </property>
  <property fmtid="{D5CDD505-2E9C-101B-9397-08002B2CF9AE}" pid="4" name="MSIP_Label_15ffddfa-74ad-4c1f-9757-a38a11902f1c_Method">
    <vt:lpwstr>Standard</vt:lpwstr>
  </property>
  <property fmtid="{D5CDD505-2E9C-101B-9397-08002B2CF9AE}" pid="5" name="MSIP_Label_15ffddfa-74ad-4c1f-9757-a38a11902f1c_Name">
    <vt:lpwstr>UST Internal</vt:lpwstr>
  </property>
  <property fmtid="{D5CDD505-2E9C-101B-9397-08002B2CF9AE}" pid="6" name="MSIP_Label_15ffddfa-74ad-4c1f-9757-a38a11902f1c_SiteId">
    <vt:lpwstr>a4431f4b-c207-4733-9530-34c08a9b2b8d</vt:lpwstr>
  </property>
  <property fmtid="{D5CDD505-2E9C-101B-9397-08002B2CF9AE}" pid="7" name="MSIP_Label_15ffddfa-74ad-4c1f-9757-a38a11902f1c_ActionId">
    <vt:lpwstr>0454b1d3-d8e8-4b72-ba3b-645de6fa94ee</vt:lpwstr>
  </property>
  <property fmtid="{D5CDD505-2E9C-101B-9397-08002B2CF9AE}" pid="8" name="MSIP_Label_15ffddfa-74ad-4c1f-9757-a38a11902f1c_ContentBits">
    <vt:lpwstr>0</vt:lpwstr>
  </property>
  <property fmtid="{D5CDD505-2E9C-101B-9397-08002B2CF9AE}" pid="9" name="MSIP_Label_15ffddfa-74ad-4c1f-9757-a38a11902f1c_Tag">
    <vt:lpwstr>10, 3, 0, 1</vt:lpwstr>
  </property>
</Properties>
</file>